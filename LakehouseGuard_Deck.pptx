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0efd859-1662-6298-e860-790db753eb73}">
          <p14:sldIdLst>
            <p14:sldId id="256"/>
            <p14:sldId id="257"/>
          </p14:sldIdLst>
        </p14:section>
        <p14:section name="How it works" id="{999a73a3-7842-169a-bb55-70d895dcc804}">
          <p14:sldIdLst>
            <p14:sldId id="258"/>
            <p14:sldId id="259"/>
            <p14:sldId id="260"/>
            <p14:sldId id="261"/>
          </p14:sldIdLst>
        </p14:section>
        <p14:section name="Proof" id="{003e6f0d-0fa1-67a4-c6ad-318f7fa9aced}">
          <p14:sldIdLst>
            <p14:sldId id="262"/>
            <p14:sldId id="263"/>
            <p14:sldId id="264"/>
            <p14:sldId id="265"/>
          </p14:sldIdLst>
        </p14:section>
        <p14:section name="Context" id="{768efc22-8c2f-7d32-7799-2447f92efb61}">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8EEFC"/>
                </a:solidFill>
                <a:latin typeface="+mn-lt"/>
              </a:defRPr>
            </a:pPr>
            <a:r>
              <a:rPr sz="1400" b="0" i="0" u="none" strike="noStrike">
                <a:solidFill>
                  <a:srgbClr val="E8EEFC"/>
                </a:solidFill>
                <a:latin typeface="+mn-lt"/>
              </a:rPr>
              <a:t>Average order value per run (INR); run 13 was blocked</a:t>
            </a:r>
          </a:p>
        </c:rich>
      </c:tx>
      <c:layout/>
      <c:overlay val="0"/>
    </c:title>
    <c:autoTitleDeleted val="0"/>
    <c:plotArea>
      <c:layout/>
      <c:barChart>
        <c:barDir val="col"/>
        <c:grouping val="clustered"/>
        <c:varyColors val="0"/>
        <c:ser>
          <c:idx val="0"/>
          <c:order val="0"/>
          <c:tx>
            <c:strRef>
              <c:f>Sheet1!$B$1</c:f>
              <c:strCache>
                <c:ptCount val="1"/>
                <c:pt idx="0">
                  <c:v>Average order value (INR)</c:v>
                </c:pt>
              </c:strCache>
            </c:strRef>
          </c:tx>
          <c:spPr>
            <a:solidFill>
              <a:srgbClr val="5B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5B8CFF"/>
              </a:solidFill>
              <a:effectLst/>
            </c:spPr>
          </c:dPt>
          <c:dPt>
            <c:idx val="1"/>
            <c:invertIfNegative val="0"/>
            <c:bubble3D val="0"/>
            <c:spPr>
              <a:solidFill>
                <a:srgbClr val="5B8CFF"/>
              </a:solidFill>
              <a:effectLst/>
            </c:spPr>
          </c:dPt>
          <c:dPt>
            <c:idx val="2"/>
            <c:invertIfNegative val="0"/>
            <c:bubble3D val="0"/>
            <c:spPr>
              <a:solidFill>
                <a:srgbClr val="5B8CFF"/>
              </a:solidFill>
              <a:effectLst/>
            </c:spPr>
          </c:dPt>
          <c:dPt>
            <c:idx val="3"/>
            <c:invertIfNegative val="0"/>
            <c:bubble3D val="0"/>
            <c:spPr>
              <a:solidFill>
                <a:srgbClr val="5B8CFF"/>
              </a:solidFill>
              <a:effectLst/>
            </c:spPr>
          </c:dPt>
          <c:dPt>
            <c:idx val="4"/>
            <c:invertIfNegative val="0"/>
            <c:bubble3D val="0"/>
            <c:spPr>
              <a:solidFill>
                <a:srgbClr val="5B8CFF"/>
              </a:solidFill>
              <a:effectLst/>
            </c:spPr>
          </c:dPt>
          <c:dPt>
            <c:idx val="5"/>
            <c:invertIfNegative val="0"/>
            <c:bubble3D val="0"/>
            <c:spPr>
              <a:solidFill>
                <a:srgbClr val="5B8CFF"/>
              </a:solidFill>
              <a:effectLst/>
            </c:spPr>
          </c:dPt>
          <c:dPt>
            <c:idx val="6"/>
            <c:invertIfNegative val="0"/>
            <c:bubble3D val="0"/>
            <c:spPr>
              <a:solidFill>
                <a:srgbClr val="5B8CFF"/>
              </a:solidFill>
              <a:effectLst/>
            </c:spPr>
          </c:dPt>
          <c:dPt>
            <c:idx val="7"/>
            <c:invertIfNegative val="0"/>
            <c:bubble3D val="0"/>
            <c:spPr>
              <a:solidFill>
                <a:srgbClr val="5B8CFF"/>
              </a:solidFill>
              <a:effectLst/>
            </c:spPr>
          </c:dPt>
          <c:dPt>
            <c:idx val="8"/>
            <c:invertIfNegative val="0"/>
            <c:bubble3D val="0"/>
            <c:spPr>
              <a:solidFill>
                <a:srgbClr val="5B8CFF"/>
              </a:solidFill>
              <a:effectLst/>
            </c:spPr>
          </c:dPt>
          <c:dPt>
            <c:idx val="9"/>
            <c:invertIfNegative val="0"/>
            <c:bubble3D val="0"/>
            <c:spPr>
              <a:solidFill>
                <a:srgbClr val="5B8CFF"/>
              </a:solidFill>
              <a:effectLst/>
            </c:spPr>
          </c:dPt>
          <c:dPt>
            <c:idx val="10"/>
            <c:invertIfNegative val="0"/>
            <c:bubble3D val="0"/>
            <c:spPr>
              <a:solidFill>
                <a:srgbClr val="5B8CFF"/>
              </a:solidFill>
              <a:effectLst/>
            </c:spPr>
          </c:dPt>
          <c:dPt>
            <c:idx val="11"/>
            <c:invertIfNegative val="0"/>
            <c:bubble3D val="0"/>
            <c:spPr>
              <a:solidFill>
                <a:srgbClr val="5B8CFF"/>
              </a:solidFill>
              <a:effectLst/>
            </c:spPr>
          </c:dPt>
          <c:dPt>
            <c:idx val="12"/>
            <c:invertIfNegative val="0"/>
            <c:bubble3D val="0"/>
            <c:spPr>
              <a:solidFill>
                <a:srgbClr val="25324A"/>
              </a:solidFill>
              <a:effectLst/>
            </c:spPr>
          </c:dPt>
          <c:dPt>
            <c:idx val="13"/>
            <c:invertIfNegative val="0"/>
            <c:bubble3D val="0"/>
            <c:spPr>
              <a:solidFill>
                <a:srgbClr val="5B8CFF"/>
              </a:solidFill>
              <a:effectLst/>
            </c:spPr>
          </c:dPt>
          <c:dPt>
            <c:idx val="14"/>
            <c:invertIfNegative val="0"/>
            <c:bubble3D val="0"/>
            <c:spPr>
              <a:solidFill>
                <a:srgbClr val="5B8CFF"/>
              </a:solidFill>
              <a:effectLst/>
            </c:spPr>
          </c:dPt>
          <c:dPt>
            <c:idx val="15"/>
            <c:invertIfNegative val="0"/>
            <c:bubble3D val="0"/>
            <c:spPr>
              <a:solidFill>
                <a:srgbClr val="5B8CFF"/>
              </a:solidFill>
              <a:effectLst/>
            </c:spPr>
          </c:dPt>
          <c:dPt>
            <c:idx val="16"/>
            <c:invertIfNegative val="0"/>
            <c:bubble3D val="0"/>
            <c:spPr>
              <a:solidFill>
                <a:srgbClr val="5B8CFF"/>
              </a:solidFill>
              <a:effectLst/>
            </c:spPr>
          </c:dPt>
          <c:dPt>
            <c:idx val="17"/>
            <c:invertIfNegative val="0"/>
            <c:bubble3D val="0"/>
            <c:spPr>
              <a:solidFill>
                <a:srgbClr val="5B8CFF"/>
              </a:solidFill>
              <a:effectLst/>
            </c:spPr>
          </c:dPt>
          <c:dPt>
            <c:idx val="18"/>
            <c:invertIfNegative val="0"/>
            <c:bubble3D val="0"/>
            <c:spPr>
              <a:solidFill>
                <a:srgbClr val="5B8CFF"/>
              </a:solidFill>
              <a:effectLst/>
            </c:spPr>
          </c:dPt>
          <c:dPt>
            <c:idx val="19"/>
            <c:invertIfNegative val="0"/>
            <c:bubble3D val="0"/>
            <c:spPr>
              <a:solidFill>
                <a:srgbClr val="5B8CFF"/>
              </a:solidFill>
              <a:effectLst/>
            </c:spPr>
          </c:dPt>
          <c:dPt>
            <c:idx val="20"/>
            <c:invertIfNegative val="0"/>
            <c:bubble3D val="0"/>
            <c:spPr>
              <a:solidFill>
                <a:srgbClr val="F5B942"/>
              </a:solidFill>
              <a:effectLst/>
            </c:spPr>
          </c:dPt>
          <c:dPt>
            <c:idx val="21"/>
            <c:invertIfNegative val="0"/>
            <c:bubble3D val="0"/>
            <c:spPr>
              <a:solidFill>
                <a:srgbClr val="5B8CFF"/>
              </a:solidFill>
              <a:effectLst/>
            </c:spPr>
          </c:dPt>
          <c:dPt>
            <c:idx val="22"/>
            <c:invertIfNegative val="0"/>
            <c:bubble3D val="0"/>
            <c:spPr>
              <a:solidFill>
                <a:srgbClr val="5B8CFF"/>
              </a:solidFill>
              <a:effectLst/>
            </c:spPr>
          </c:dPt>
          <c:dPt>
            <c:idx val="23"/>
            <c:invertIfNegative val="0"/>
            <c:bubble3D val="0"/>
            <c:spPr>
              <a:solidFill>
                <a:srgbClr val="5B8CFF"/>
              </a:solidFill>
              <a:effectLst/>
            </c:spPr>
          </c:dPt>
          <c:dPt>
            <c:idx val="24"/>
            <c:invertIfNegative val="0"/>
            <c:bubble3D val="0"/>
            <c:spPr>
              <a:solidFill>
                <a:srgbClr val="5B8CFF"/>
              </a:solidFill>
              <a:effectLst/>
            </c:spPr>
          </c:dPt>
          <c:dPt>
            <c:idx val="25"/>
            <c:invertIfNegative val="0"/>
            <c:bubble3D val="0"/>
            <c:spPr>
              <a:solidFill>
                <a:srgbClr val="5B8CFF"/>
              </a:solidFill>
              <a:effectLst/>
            </c:spPr>
          </c:dPt>
          <c:dPt>
            <c:idx val="26"/>
            <c:invertIfNegative val="0"/>
            <c:bubble3D val="0"/>
            <c:spPr>
              <a:solidFill>
                <a:srgbClr val="FF5C7A"/>
              </a:solidFill>
              <a:effectLst/>
            </c:spPr>
          </c:dPt>
          <c:dPt>
            <c:idx val="27"/>
            <c:invertIfNegative val="0"/>
            <c:bubble3D val="0"/>
            <c:spPr>
              <a:solidFill>
                <a:srgbClr val="5B8CFF"/>
              </a:solidFill>
              <a:effectLst/>
            </c:spPr>
          </c:dPt>
          <c:cat>
            <c:multiLvlStrRef>
              <c:f>Sheet1!$A$2:$A$29</c:f>
              <c:multiLvlStrCache>
                <c:ptCount val="2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lvl>
              </c:multiLvlStrCache>
            </c:multiLvlStrRef>
          </c:cat>
          <c:val>
            <c:numRef>
              <c:f>Sheet1!$B$2:$B$29</c:f>
              <c:numCache>
                <c:formatCode>General</c:formatCode>
                <c:ptCount val="28"/>
                <c:pt idx="0">
                  <c:v>2186</c:v>
                </c:pt>
                <c:pt idx="1">
                  <c:v>2323</c:v>
                </c:pt>
                <c:pt idx="2">
                  <c:v>2382</c:v>
                </c:pt>
                <c:pt idx="3">
                  <c:v>2457</c:v>
                </c:pt>
                <c:pt idx="4">
                  <c:v>2360</c:v>
                </c:pt>
                <c:pt idx="5">
                  <c:v>2248</c:v>
                </c:pt>
                <c:pt idx="6">
                  <c:v>2295</c:v>
                </c:pt>
                <c:pt idx="7">
                  <c:v>2527</c:v>
                </c:pt>
                <c:pt idx="8">
                  <c:v>2154</c:v>
                </c:pt>
                <c:pt idx="9">
                  <c:v>2315</c:v>
                </c:pt>
                <c:pt idx="10">
                  <c:v>2287</c:v>
                </c:pt>
                <c:pt idx="11">
                  <c:v>2217</c:v>
                </c:pt>
                <c:pt idx="12">
                  <c:v>0</c:v>
                </c:pt>
                <c:pt idx="13">
                  <c:v>2208</c:v>
                </c:pt>
                <c:pt idx="14">
                  <c:v>2249</c:v>
                </c:pt>
                <c:pt idx="15">
                  <c:v>2303</c:v>
                </c:pt>
                <c:pt idx="16">
                  <c:v>2450</c:v>
                </c:pt>
                <c:pt idx="17">
                  <c:v>2526</c:v>
                </c:pt>
                <c:pt idx="18">
                  <c:v>2454</c:v>
                </c:pt>
                <c:pt idx="19">
                  <c:v>2335</c:v>
                </c:pt>
                <c:pt idx="20">
                  <c:v>4207</c:v>
                </c:pt>
                <c:pt idx="21">
                  <c:v>2415</c:v>
                </c:pt>
                <c:pt idx="22">
                  <c:v>2197</c:v>
                </c:pt>
                <c:pt idx="23">
                  <c:v>2435</c:v>
                </c:pt>
                <c:pt idx="24">
                  <c:v>2304</c:v>
                </c:pt>
                <c:pt idx="25">
                  <c:v>2127</c:v>
                </c:pt>
                <c:pt idx="26">
                  <c:v>4019</c:v>
                </c:pt>
                <c:pt idx="27">
                  <c:v>2147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8FA0C2"/>
                    </a:solidFill>
                    <a:latin typeface="+mn-lt"/>
                  </a:defRPr>
                </a:pPr>
                <a:r>
                  <a:rPr sz="1100" b="0" i="0" u="none" strike="noStrike">
                    <a:solidFill>
                      <a:srgbClr val="8FA0C2"/>
                    </a:solidFill>
                    <a:latin typeface="+mn-lt"/>
                  </a:rPr>
                  <a:t>Pipeline run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FA0C2"/>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25324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FA0C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30-second pitch: most pipelines stop at ETL. I built the layer that makes a pipeline trustworthy: contracts gate Bronze to Silver, bad rows are quarantined with reasons, observability catches drift that contracts cannot see, and an offline AI agent triages alerts and proposes a root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in operator terms: silent wrongness, alert noise and slow diagnosis. These are the three things the project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Contracts block known failures. Observability catches unknown ones. Healing removes cosmetic noise but is monitored so it cannot hide a degrading source. The agent turns alerts into a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Bronze is immutable raw. Healing is deterministic. The contract gate splits clean rows from quarantined rows and can block the whole batch. Observability and the gate both feed incidents; the agent explains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rules are the platform's whole policy. The two I like most: the circuit breaker and baseline hygiene. Both exist because of failure modes I hit while building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chaos engine is part of the repo: lakehouseguard demo warms up on healthy data then injects each of these. Number 9 is the interesting one,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that justifies two layers. Contracts check rows against rules; here every row passes. Only comparing the batch to what normal looked like, using PSI, reveals that amounts moved 1.7x. Be upfront about run 21: some outliers slipped under the global max. That is a real limitation, and it is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Deterministic reasoning, no API key: triage groups the symptoms, hypotheses are scored from evidence, retrieval finds the runbook, lineage sizes the blast radius. An optional local LLM can rephrase, but only from these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Reproduce with python benchmarks/run_benchmark.py --seeds 20. I include the caveats on the slide because an interviewer will ask, and being the one who names the limits builds more trust than a perfect-looking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idempotent partitions and the test strategy: every failure mode has an end-to-end test, plus unit tests for each detector and for the agent's triage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my day job meets the project. The core is engine-agnostic so each concept maps one to one. The PySpark example runs in an optional CI job, and I say so plainly: the test suite exercises the pandas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limits is a strength in an interview. The outlier gap is the first thing I would fix: contracts with per-category ranges, plus a robust outlier-rate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invitation to run it. Offer to walk through the schema-break incident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B10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6766560" cy="1737360"/>
          </a:xfrm>
          <a:prstGeom prst="rect">
            <a:avLst/>
          </a:prstGeom>
          <a:noFill/>
          <a:ln/>
        </p:spPr>
        <p:txBody>
          <a:bodyPr wrap="square" rtlCol="0"/>
          <a:lstStyle>
            <a:lvl1pPr algn="l" indent="0" marL="0">
              <a:buNone/>
              <a:defRPr lang="en-US" sz="5200" b="1" dirty="0">
                <a:solidFill>
                  <a:schemeClr val="bg1"/>
                </a:solidFill>
              </a:defRPr>
            </a:lvl1pPr>
          </a:lstStyle>
          <a:p>
            <a:pPr algn="l" indent="0" marL="0">
              <a:buNone/>
            </a:pPr>
            <a:endParaRPr lang="en-US" sz="5200" dirty="0"/>
          </a:p>
        </p:txBody>
      </p:sp>
      <p:sp>
        <p:nvSpPr>
          <p:cNvPr id="3" name="Text 0"/>
          <p:cNvSpPr/>
          <p:nvPr>
            <p:ph idx="101" type="body" hasCustomPrompt="1"/>
          </p:nvPr>
        </p:nvSpPr>
        <p:spPr>
          <a:xfrm>
            <a:off x="731520" y="4069080"/>
            <a:ext cx="6400800" cy="91440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0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FA0C2"/>
                </a:solidFill>
              </a:rPr>
              <a:t>LakehouseGuard  ·  Rushikesh Wavhal</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0C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0C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6766560" cy="1737360"/>
          </a:xfrm>
          <a:prstGeom prst="rect">
            <a:avLst/>
          </a:prstGeom>
          <a:noFill/>
          <a:ln/>
        </p:spPr>
        <p:txBody>
          <a:bodyPr wrap="square" lIns="0" tIns="0" rIns="0" bIns="0" rtlCol="0" anchor="t"/>
          <a:lstStyle/>
          <a:p>
            <a:pPr algn="l" indent="0" marL="0">
              <a:buNone/>
            </a:pPr>
            <a:r>
              <a:rPr lang="en-US" sz="5200" b="1" dirty="0">
                <a:solidFill>
                  <a:schemeClr val="bg1"/>
                </a:solidFill>
              </a:rPr>
              <a:t>LakehouseGuard</a:t>
            </a:r>
            <a:endParaRPr lang="en-US" sz="5200" dirty="0"/>
          </a:p>
        </p:txBody>
      </p:sp>
      <p:sp>
        <p:nvSpPr>
          <p:cNvPr id="3" name="Text 0"/>
          <p:cNvSpPr/>
          <p:nvPr>
            <p:ph idx="101" type="body" hasCustomPrompt="1"/>
          </p:nvPr>
        </p:nvSpPr>
        <p:spPr>
          <a:xfrm>
            <a:off x="731520" y="4069080"/>
            <a:ext cx="6400800" cy="914400"/>
          </a:xfrm>
          <a:prstGeom prst="rect">
            <a:avLst/>
          </a:prstGeom>
          <a:noFill/>
          <a:ln/>
        </p:spPr>
        <p:txBody>
          <a:bodyPr wrap="square" lIns="0" tIns="0" rIns="0" bIns="0" rtlCol="0" anchor="t"/>
          <a:lstStyle/>
          <a:p>
            <a:pPr algn="l" indent="0" marL="0">
              <a:buNone/>
            </a:pPr>
            <a:r>
              <a:rPr lang="en-US" sz="2000" dirty="0">
                <a:solidFill>
                  <a:schemeClr val="accent6"/>
                </a:solidFill>
              </a:rPr>
              <a:t>A contract-driven, self-healing lakehouse with an AI incident agent. Data you can trust, incidents you can explain.</a:t>
            </a:r>
            <a:endParaRPr lang="en-US" sz="2000" dirty="0"/>
          </a:p>
        </p:txBody>
      </p:sp>
      <p:sp>
        <p:nvSpPr>
          <p:cNvPr id="4" name="Author"/>
          <p:cNvSpPr txBox="1"/>
          <p:nvPr/>
        </p:nvSpPr>
        <p:spPr>
          <a:xfrm>
            <a:off x="731520" y="5486400"/>
            <a:ext cx="5943600" cy="365760"/>
          </a:xfrm>
          <a:prstGeom prst="rect">
            <a:avLst/>
          </a:prstGeom>
          <a:noFill/>
          <a:ln/>
        </p:spPr>
        <p:txBody>
          <a:bodyPr wrap="square" lIns="0" tIns="0" rIns="0" bIns="0" rtlCol="0" anchor="t"/>
          <a:lstStyle/>
          <a:p>
            <a:pPr indent="0" marL="0">
              <a:buNone/>
            </a:pPr>
            <a:r>
              <a:rPr lang="en-US" sz="2000" b="1" dirty="0">
                <a:solidFill>
                  <a:schemeClr val="bg1"/>
                </a:solidFill>
              </a:rPr>
              <a:t>Rushikesh Wavhal</a:t>
            </a:r>
            <a:endParaRPr lang="en-US" sz="2000" dirty="0"/>
          </a:p>
        </p:txBody>
      </p:sp>
      <p:sp>
        <p:nvSpPr>
          <p:cNvPr id="5" name="Role"/>
          <p:cNvSpPr txBox="1"/>
          <p:nvPr/>
        </p:nvSpPr>
        <p:spPr>
          <a:xfrm>
            <a:off x="731520" y="5897880"/>
            <a:ext cx="6858000" cy="320040"/>
          </a:xfrm>
          <a:prstGeom prst="rect">
            <a:avLst/>
          </a:prstGeom>
          <a:noFill/>
          <a:ln/>
        </p:spPr>
        <p:txBody>
          <a:bodyPr wrap="square" lIns="0" tIns="0" rIns="0" bIns="0" rtlCol="0" anchor="t"/>
          <a:lstStyle/>
          <a:p>
            <a:pPr indent="0" marL="0">
              <a:buNone/>
            </a:pPr>
            <a:r>
              <a:rPr lang="en-US" sz="1400" dirty="0">
                <a:solidFill>
                  <a:schemeClr val="accent6"/>
                </a:solidFill>
              </a:rPr>
              <a:t>Azure Data Engineer  ·  Microsoft Fabric  ·  Databricks  ·  PySpark</a:t>
            </a:r>
            <a:endParaRPr lang="en-US" sz="1400" dirty="0"/>
          </a:p>
        </p:txBody>
      </p:sp>
      <p:sp>
        <p:nvSpPr>
          <p:cNvPr id="6" name="Shield circle"/>
          <p:cNvSpPr/>
          <p:nvPr/>
        </p:nvSpPr>
        <p:spPr>
          <a:xfrm>
            <a:off x="8366760" y="822960"/>
            <a:ext cx="1828800" cy="1828800"/>
          </a:xfrm>
          <a:prstGeom prst="ellipse">
            <a:avLst/>
          </a:prstGeom>
          <a:solidFill>
            <a:schemeClr val="accent2"/>
          </a:solidFill>
          <a:ln w="12700">
            <a:solidFill>
              <a:schemeClr val="accent2"/>
            </a:solidFill>
            <a:prstDash val="solid"/>
          </a:ln>
        </p:spPr>
      </p:sp>
      <p:pic>
        <p:nvPicPr>
          <p:cNvPr id="7" name="Shield icon" descr="Shield">    </p:cNvPr>
          <p:cNvPicPr>
            <a:picLocks noChangeAspect="1"/>
          </p:cNvPicPr>
          <p:nvPr/>
        </p:nvPicPr>
        <p:blipFill>
          <a:blip r:embed="rId1"/>
          <a:stretch>
            <a:fillRect/>
          </a:stretch>
        </p:blipFill>
        <p:spPr>
          <a:xfrm>
            <a:off x="8778240" y="1234440"/>
            <a:ext cx="1005840" cy="1005840"/>
          </a:xfrm>
          <a:prstGeom prst="rect">
            <a:avLst/>
          </a:prstGeom>
        </p:spPr>
      </p:pic>
      <p:sp>
        <p:nvSpPr>
          <p:cNvPr id="8" name="Gold layer"/>
          <p:cNvSpPr/>
          <p:nvPr/>
        </p:nvSpPr>
        <p:spPr>
          <a:xfrm>
            <a:off x="8229600" y="3383280"/>
            <a:ext cx="3749040" cy="502920"/>
          </a:xfrm>
          <a:prstGeom prst="roundRect">
            <a:avLst>
              <a:gd name="adj" fmla="val 18182"/>
            </a:avLst>
          </a:prstGeom>
          <a:solidFill>
            <a:schemeClr val="accent4"/>
          </a:solidFill>
          <a:ln w="12700">
            <a:solidFill>
              <a:schemeClr val="accent4"/>
            </a:solidFill>
            <a:prstDash val="solid"/>
          </a:ln>
        </p:spPr>
      </p:sp>
      <p:sp>
        <p:nvSpPr>
          <p:cNvPr id="9" name="Gold layer label"/>
          <p:cNvSpPr txBox="1"/>
          <p:nvPr/>
        </p:nvSpPr>
        <p:spPr>
          <a:xfrm>
            <a:off x="8229600" y="3383280"/>
            <a:ext cx="3749040" cy="502920"/>
          </a:xfrm>
          <a:prstGeom prst="rect">
            <a:avLst/>
          </a:prstGeom>
          <a:noFill/>
          <a:ln/>
        </p:spPr>
        <p:txBody>
          <a:bodyPr wrap="square" lIns="0" tIns="0" rIns="0" bIns="0" rtlCol="0" anchor="ctr"/>
          <a:lstStyle/>
          <a:p>
            <a:pPr algn="ctr" indent="0" marL="0">
              <a:buNone/>
            </a:pPr>
            <a:r>
              <a:rPr lang="en-US" sz="1600" b="1" dirty="0">
                <a:solidFill>
                  <a:srgbClr val="0B1020"/>
                </a:solidFill>
              </a:rPr>
              <a:t>Gold</a:t>
            </a:r>
            <a:endParaRPr lang="en-US" sz="1600" dirty="0"/>
          </a:p>
        </p:txBody>
      </p:sp>
      <p:sp>
        <p:nvSpPr>
          <p:cNvPr id="10" name="Silver layer"/>
          <p:cNvSpPr/>
          <p:nvPr/>
        </p:nvSpPr>
        <p:spPr>
          <a:xfrm>
            <a:off x="7863840" y="3977640"/>
            <a:ext cx="3749040" cy="502920"/>
          </a:xfrm>
          <a:prstGeom prst="roundRect">
            <a:avLst>
              <a:gd name="adj" fmla="val 18182"/>
            </a:avLst>
          </a:prstGeom>
          <a:solidFill>
            <a:schemeClr val="accent6"/>
          </a:solidFill>
          <a:ln w="12700">
            <a:solidFill>
              <a:schemeClr val="accent6"/>
            </a:solidFill>
            <a:prstDash val="solid"/>
          </a:ln>
        </p:spPr>
      </p:sp>
      <p:sp>
        <p:nvSpPr>
          <p:cNvPr id="11" name="Silver layer label"/>
          <p:cNvSpPr txBox="1"/>
          <p:nvPr/>
        </p:nvSpPr>
        <p:spPr>
          <a:xfrm>
            <a:off x="7863840" y="3977640"/>
            <a:ext cx="3749040" cy="502920"/>
          </a:xfrm>
          <a:prstGeom prst="rect">
            <a:avLst/>
          </a:prstGeom>
          <a:noFill/>
          <a:ln/>
        </p:spPr>
        <p:txBody>
          <a:bodyPr wrap="square" lIns="0" tIns="0" rIns="0" bIns="0" rtlCol="0" anchor="ctr"/>
          <a:lstStyle/>
          <a:p>
            <a:pPr algn="ctr" indent="0" marL="0">
              <a:buNone/>
            </a:pPr>
            <a:r>
              <a:rPr lang="en-US" sz="1600" b="1" dirty="0">
                <a:solidFill>
                  <a:srgbClr val="0B1020"/>
                </a:solidFill>
              </a:rPr>
              <a:t>Silver</a:t>
            </a:r>
            <a:endParaRPr lang="en-US" sz="1600" dirty="0"/>
          </a:p>
        </p:txBody>
      </p:sp>
      <p:sp>
        <p:nvSpPr>
          <p:cNvPr id="12" name="Bronze layer"/>
          <p:cNvSpPr/>
          <p:nvPr/>
        </p:nvSpPr>
        <p:spPr>
          <a:xfrm>
            <a:off x="7498080" y="4572000"/>
            <a:ext cx="3749040" cy="502920"/>
          </a:xfrm>
          <a:prstGeom prst="roundRect">
            <a:avLst>
              <a:gd name="adj" fmla="val 18182"/>
            </a:avLst>
          </a:prstGeom>
          <a:solidFill>
            <a:schemeClr val="accent3"/>
          </a:solidFill>
          <a:ln w="12700">
            <a:solidFill>
              <a:schemeClr val="accent3"/>
            </a:solidFill>
            <a:prstDash val="solid"/>
          </a:ln>
        </p:spPr>
      </p:sp>
      <p:sp>
        <p:nvSpPr>
          <p:cNvPr id="13" name="Bronze layer label"/>
          <p:cNvSpPr txBox="1"/>
          <p:nvPr/>
        </p:nvSpPr>
        <p:spPr>
          <a:xfrm>
            <a:off x="7498080" y="4572000"/>
            <a:ext cx="3749040" cy="502920"/>
          </a:xfrm>
          <a:prstGeom prst="rect">
            <a:avLst/>
          </a:prstGeom>
          <a:noFill/>
          <a:ln/>
        </p:spPr>
        <p:txBody>
          <a:bodyPr wrap="square" lIns="0" tIns="0" rIns="0" bIns="0" rtlCol="0" anchor="ctr"/>
          <a:lstStyle/>
          <a:p>
            <a:pPr algn="ctr" indent="0" marL="0">
              <a:buNone/>
            </a:pPr>
            <a:r>
              <a:rPr lang="en-US" sz="1600" b="1" dirty="0">
                <a:solidFill>
                  <a:srgbClr val="0B1020"/>
                </a:solidFill>
              </a:rPr>
              <a:t>Bronze</a:t>
            </a:r>
            <a:endParaRPr lang="en-US" sz="1600" dirty="0"/>
          </a:p>
        </p:txBody>
      </p:sp>
      <p:sp>
        <p:nvSpPr>
          <p:cNvPr id="14" name="Tagline"/>
          <p:cNvSpPr txBox="1"/>
          <p:nvPr/>
        </p:nvSpPr>
        <p:spPr>
          <a:xfrm>
            <a:off x="7498080" y="5394960"/>
            <a:ext cx="4023360" cy="365760"/>
          </a:xfrm>
          <a:prstGeom prst="rect">
            <a:avLst/>
          </a:prstGeom>
          <a:noFill/>
          <a:ln/>
        </p:spPr>
        <p:txBody>
          <a:bodyPr wrap="square" lIns="0" tIns="0" rIns="0" bIns="0" rtlCol="0" anchor="t"/>
          <a:lstStyle/>
          <a:p>
            <a:pPr algn="ctr" indent="0" marL="0">
              <a:buNone/>
            </a:pPr>
            <a:r>
              <a:rPr lang="en-US" sz="1200" dirty="0">
                <a:solidFill>
                  <a:schemeClr val="accent6"/>
                </a:solidFill>
              </a:rPr>
              <a:t>contracts  ·  quarantine  ·  observability  ·  RCA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Pipelines pass tests. Data still breaks</a:t>
            </a:r>
            <a:endParaRPr lang="en-US" sz="3600" dirty="0"/>
          </a:p>
        </p:txBody>
      </p:sp>
      <p:sp>
        <p:nvSpPr>
          <p:cNvPr id="3" name="Problem statement"/>
          <p:cNvSpPr txBox="1"/>
          <p:nvPr/>
        </p:nvSpPr>
        <p:spPr>
          <a:xfrm>
            <a:off x="548640" y="1508760"/>
            <a:ext cx="4206240" cy="2011680"/>
          </a:xfrm>
          <a:prstGeom prst="rect">
            <a:avLst/>
          </a:prstGeom>
          <a:noFill/>
          <a:ln/>
        </p:spPr>
        <p:txBody>
          <a:bodyPr wrap="square" lIns="0" tIns="0" rIns="0" bIns="0" rtlCol="0" anchor="t"/>
          <a:lstStyle/>
          <a:p>
            <a:pPr indent="0" marL="0">
              <a:buNone/>
            </a:pPr>
            <a:r>
              <a:rPr lang="en-US" sz="2400" b="1" dirty="0">
                <a:solidFill>
                  <a:schemeClr val="bg1"/>
                </a:solidFill>
              </a:rPr>
              <a:t>The failures that hurt are rows that look valid but are quietly wrong: late, duplicated, renamed, rescaled.</a:t>
            </a:r>
            <a:endParaRPr lang="en-US" sz="2400" dirty="0"/>
          </a:p>
        </p:txBody>
      </p:sp>
      <p:sp>
        <p:nvSpPr>
          <p:cNvPr id="4" name="Problem support"/>
          <p:cNvSpPr txBox="1"/>
          <p:nvPr/>
        </p:nvSpPr>
        <p:spPr>
          <a:xfrm>
            <a:off x="548640" y="3840480"/>
            <a:ext cx="4023360" cy="1188720"/>
          </a:xfrm>
          <a:prstGeom prst="rect">
            <a:avLst/>
          </a:prstGeom>
          <a:noFill/>
          <a:ln/>
        </p:spPr>
        <p:txBody>
          <a:bodyPr wrap="square" lIns="0" tIns="0" rIns="0" bIns="0" rtlCol="0" anchor="t"/>
          <a:lstStyle/>
          <a:p>
            <a:pPr indent="0" marL="0">
              <a:buNone/>
            </a:pPr>
            <a:r>
              <a:rPr lang="en-US" sz="1600" dirty="0">
                <a:solidFill>
                  <a:schemeClr val="accent6"/>
                </a:solidFill>
              </a:rPr>
              <a:t>Build-time tests do not see production data. Dashboards go wrong before anyone knows why.</a:t>
            </a:r>
            <a:endParaRPr lang="en-US" sz="1600" dirty="0"/>
          </a:p>
        </p:txBody>
      </p:sp>
      <p:sp>
        <p:nvSpPr>
          <p:cNvPr id="5" name="Problem card 1"/>
          <p:cNvSpPr/>
          <p:nvPr/>
        </p:nvSpPr>
        <p:spPr>
          <a:xfrm>
            <a:off x="5212080" y="1508760"/>
            <a:ext cx="6400800" cy="1371600"/>
          </a:xfrm>
          <a:prstGeom prst="roundRect">
            <a:avLst>
              <a:gd name="adj" fmla="val 8000"/>
            </a:avLst>
          </a:prstGeom>
          <a:solidFill>
            <a:schemeClr val="tx2"/>
          </a:solidFill>
          <a:ln w="12700">
            <a:solidFill>
              <a:schemeClr val="accent5"/>
            </a:solidFill>
            <a:prstDash val="solid"/>
          </a:ln>
        </p:spPr>
      </p:sp>
      <p:sp>
        <p:nvSpPr>
          <p:cNvPr id="6" name="Icon Silent bad data circle"/>
          <p:cNvSpPr/>
          <p:nvPr/>
        </p:nvSpPr>
        <p:spPr>
          <a:xfrm>
            <a:off x="5486400" y="1828800"/>
            <a:ext cx="731520" cy="731520"/>
          </a:xfrm>
          <a:prstGeom prst="ellipse">
            <a:avLst/>
          </a:prstGeom>
          <a:solidFill>
            <a:srgbClr val="FF5C7A"/>
          </a:solidFill>
          <a:ln w="12700">
            <a:solidFill>
              <a:srgbClr val="FF5C7A"/>
            </a:solidFill>
            <a:prstDash val="solid"/>
          </a:ln>
        </p:spPr>
      </p:sp>
      <p:pic>
        <p:nvPicPr>
          <p:cNvPr id="7" name="Icon Silent bad data" descr="Icon Silent bad data">    </p:cNvPr>
          <p:cNvPicPr>
            <a:picLocks noChangeAspect="1"/>
          </p:cNvPicPr>
          <p:nvPr/>
        </p:nvPicPr>
        <p:blipFill>
          <a:blip r:embed="rId1"/>
          <a:stretch>
            <a:fillRect/>
          </a:stretch>
        </p:blipFill>
        <p:spPr>
          <a:xfrm>
            <a:off x="5676595" y="2018995"/>
            <a:ext cx="351130" cy="351130"/>
          </a:xfrm>
          <a:prstGeom prst="rect">
            <a:avLst/>
          </a:prstGeom>
        </p:spPr>
      </p:pic>
      <p:sp>
        <p:nvSpPr>
          <p:cNvPr id="8" name="Silent bad data"/>
          <p:cNvSpPr txBox="1"/>
          <p:nvPr/>
        </p:nvSpPr>
        <p:spPr>
          <a:xfrm>
            <a:off x="6492240" y="1737360"/>
            <a:ext cx="4937760" cy="365760"/>
          </a:xfrm>
          <a:prstGeom prst="rect">
            <a:avLst/>
          </a:prstGeom>
          <a:noFill/>
          <a:ln/>
        </p:spPr>
        <p:txBody>
          <a:bodyPr wrap="square" lIns="0" tIns="0" rIns="0" bIns="0" rtlCol="0" anchor="t"/>
          <a:lstStyle/>
          <a:p>
            <a:pPr indent="0" marL="0">
              <a:buNone/>
            </a:pPr>
            <a:r>
              <a:rPr lang="en-US" sz="2000" b="1" dirty="0">
                <a:solidFill>
                  <a:schemeClr val="bg1"/>
                </a:solidFill>
              </a:rPr>
              <a:t>Silent bad data</a:t>
            </a:r>
            <a:endParaRPr lang="en-US" sz="2000" dirty="0"/>
          </a:p>
        </p:txBody>
      </p:sp>
      <p:sp>
        <p:nvSpPr>
          <p:cNvPr id="9" name="Silent bad data detail"/>
          <p:cNvSpPr txBox="1"/>
          <p:nvPr/>
        </p:nvSpPr>
        <p:spPr>
          <a:xfrm>
            <a:off x="6492240" y="2148840"/>
            <a:ext cx="4937760" cy="640080"/>
          </a:xfrm>
          <a:prstGeom prst="rect">
            <a:avLst/>
          </a:prstGeom>
          <a:noFill/>
          <a:ln/>
        </p:spPr>
        <p:txBody>
          <a:bodyPr wrap="square" lIns="0" tIns="0" rIns="0" bIns="0" rtlCol="0" anchor="t"/>
          <a:lstStyle/>
          <a:p>
            <a:pPr indent="0" marL="0">
              <a:buNone/>
            </a:pPr>
            <a:r>
              <a:rPr lang="en-US" sz="1400" dirty="0">
                <a:solidFill>
                  <a:schemeClr val="accent6"/>
                </a:solidFill>
              </a:rPr>
              <a:t>Valid-looking rows that are wrong reach Gold and the dashboards unnoticed.</a:t>
            </a:r>
            <a:endParaRPr lang="en-US" sz="1400" dirty="0"/>
          </a:p>
        </p:txBody>
      </p:sp>
      <p:sp>
        <p:nvSpPr>
          <p:cNvPr id="10" name="Problem card 2"/>
          <p:cNvSpPr/>
          <p:nvPr/>
        </p:nvSpPr>
        <p:spPr>
          <a:xfrm>
            <a:off x="5212080" y="3063240"/>
            <a:ext cx="6400800" cy="1371600"/>
          </a:xfrm>
          <a:prstGeom prst="roundRect">
            <a:avLst>
              <a:gd name="adj" fmla="val 8000"/>
            </a:avLst>
          </a:prstGeom>
          <a:solidFill>
            <a:schemeClr val="tx2"/>
          </a:solidFill>
          <a:ln w="12700">
            <a:solidFill>
              <a:schemeClr val="accent5"/>
            </a:solidFill>
            <a:prstDash val="solid"/>
          </a:ln>
        </p:spPr>
      </p:sp>
      <p:sp>
        <p:nvSpPr>
          <p:cNvPr id="11" name="Icon Alert floods circle"/>
          <p:cNvSpPr/>
          <p:nvPr/>
        </p:nvSpPr>
        <p:spPr>
          <a:xfrm>
            <a:off x="5486400" y="3383280"/>
            <a:ext cx="731520" cy="731520"/>
          </a:xfrm>
          <a:prstGeom prst="ellipse">
            <a:avLst/>
          </a:prstGeom>
          <a:solidFill>
            <a:srgbClr val="F5B942"/>
          </a:solidFill>
          <a:ln w="12700">
            <a:solidFill>
              <a:srgbClr val="F5B942"/>
            </a:solidFill>
            <a:prstDash val="solid"/>
          </a:ln>
        </p:spPr>
      </p:sp>
      <p:pic>
        <p:nvPicPr>
          <p:cNvPr id="12" name="Icon Alert floods" descr="Icon Alert floods">    </p:cNvPr>
          <p:cNvPicPr>
            <a:picLocks noChangeAspect="1"/>
          </p:cNvPicPr>
          <p:nvPr/>
        </p:nvPicPr>
        <p:blipFill>
          <a:blip r:embed="rId2"/>
          <a:stretch>
            <a:fillRect/>
          </a:stretch>
        </p:blipFill>
        <p:spPr>
          <a:xfrm>
            <a:off x="5676595" y="3573475"/>
            <a:ext cx="351130" cy="351130"/>
          </a:xfrm>
          <a:prstGeom prst="rect">
            <a:avLst/>
          </a:prstGeom>
        </p:spPr>
      </p:pic>
      <p:sp>
        <p:nvSpPr>
          <p:cNvPr id="13" name="Alert floods"/>
          <p:cNvSpPr txBox="1"/>
          <p:nvPr/>
        </p:nvSpPr>
        <p:spPr>
          <a:xfrm>
            <a:off x="6492240" y="3291840"/>
            <a:ext cx="4937760" cy="365760"/>
          </a:xfrm>
          <a:prstGeom prst="rect">
            <a:avLst/>
          </a:prstGeom>
          <a:noFill/>
          <a:ln/>
        </p:spPr>
        <p:txBody>
          <a:bodyPr wrap="square" lIns="0" tIns="0" rIns="0" bIns="0" rtlCol="0" anchor="t"/>
          <a:lstStyle/>
          <a:p>
            <a:pPr indent="0" marL="0">
              <a:buNone/>
            </a:pPr>
            <a:r>
              <a:rPr lang="en-US" sz="2000" b="1" dirty="0">
                <a:solidFill>
                  <a:schemeClr val="bg1"/>
                </a:solidFill>
              </a:rPr>
              <a:t>Alert floods</a:t>
            </a:r>
            <a:endParaRPr lang="en-US" sz="2000" dirty="0"/>
          </a:p>
        </p:txBody>
      </p:sp>
      <p:sp>
        <p:nvSpPr>
          <p:cNvPr id="14" name="Alert floods detail"/>
          <p:cNvSpPr txBox="1"/>
          <p:nvPr/>
        </p:nvSpPr>
        <p:spPr>
          <a:xfrm>
            <a:off x="6492240" y="3703320"/>
            <a:ext cx="4937760" cy="640080"/>
          </a:xfrm>
          <a:prstGeom prst="rect">
            <a:avLst/>
          </a:prstGeom>
          <a:noFill/>
          <a:ln/>
        </p:spPr>
        <p:txBody>
          <a:bodyPr wrap="square" lIns="0" tIns="0" rIns="0" bIns="0" rtlCol="0" anchor="t"/>
          <a:lstStyle/>
          <a:p>
            <a:pPr indent="0" marL="0">
              <a:buNone/>
            </a:pPr>
            <a:r>
              <a:rPr lang="en-US" sz="1400" dirty="0">
                <a:solidFill>
                  <a:schemeClr val="accent6"/>
                </a:solidFill>
              </a:rPr>
              <a:t>One schema change fires five alerts. Nobody knows which one matters.</a:t>
            </a:r>
            <a:endParaRPr lang="en-US" sz="1400" dirty="0"/>
          </a:p>
        </p:txBody>
      </p:sp>
      <p:sp>
        <p:nvSpPr>
          <p:cNvPr id="15" name="Problem card 3"/>
          <p:cNvSpPr/>
          <p:nvPr/>
        </p:nvSpPr>
        <p:spPr>
          <a:xfrm>
            <a:off x="5212080" y="4617720"/>
            <a:ext cx="6400800" cy="1371600"/>
          </a:xfrm>
          <a:prstGeom prst="roundRect">
            <a:avLst>
              <a:gd name="adj" fmla="val 8000"/>
            </a:avLst>
          </a:prstGeom>
          <a:solidFill>
            <a:schemeClr val="tx2"/>
          </a:solidFill>
          <a:ln w="12700">
            <a:solidFill>
              <a:schemeClr val="accent5"/>
            </a:solidFill>
            <a:prstDash val="solid"/>
          </a:ln>
        </p:spPr>
      </p:sp>
      <p:sp>
        <p:nvSpPr>
          <p:cNvPr id="16" name="Icon No root cause circle"/>
          <p:cNvSpPr/>
          <p:nvPr/>
        </p:nvSpPr>
        <p:spPr>
          <a:xfrm>
            <a:off x="5486400" y="4937760"/>
            <a:ext cx="731520" cy="731520"/>
          </a:xfrm>
          <a:prstGeom prst="ellipse">
            <a:avLst/>
          </a:prstGeom>
          <a:solidFill>
            <a:srgbClr val="5B8CFF"/>
          </a:solidFill>
          <a:ln w="12700">
            <a:solidFill>
              <a:srgbClr val="5B8CFF"/>
            </a:solidFill>
            <a:prstDash val="solid"/>
          </a:ln>
        </p:spPr>
      </p:sp>
      <p:pic>
        <p:nvPicPr>
          <p:cNvPr id="17" name="Icon No root cause" descr="Icon No root cause">    </p:cNvPr>
          <p:cNvPicPr>
            <a:picLocks noChangeAspect="1"/>
          </p:cNvPicPr>
          <p:nvPr/>
        </p:nvPicPr>
        <p:blipFill>
          <a:blip r:embed="rId3"/>
          <a:stretch>
            <a:fillRect/>
          </a:stretch>
        </p:blipFill>
        <p:spPr>
          <a:xfrm>
            <a:off x="5676595" y="5127955"/>
            <a:ext cx="351130" cy="351130"/>
          </a:xfrm>
          <a:prstGeom prst="rect">
            <a:avLst/>
          </a:prstGeom>
        </p:spPr>
      </p:pic>
      <p:sp>
        <p:nvSpPr>
          <p:cNvPr id="18" name="No root cause"/>
          <p:cNvSpPr txBox="1"/>
          <p:nvPr/>
        </p:nvSpPr>
        <p:spPr>
          <a:xfrm>
            <a:off x="6492240" y="4846320"/>
            <a:ext cx="4937760" cy="365760"/>
          </a:xfrm>
          <a:prstGeom prst="rect">
            <a:avLst/>
          </a:prstGeom>
          <a:noFill/>
          <a:ln/>
        </p:spPr>
        <p:txBody>
          <a:bodyPr wrap="square" lIns="0" tIns="0" rIns="0" bIns="0" rtlCol="0" anchor="t"/>
          <a:lstStyle/>
          <a:p>
            <a:pPr indent="0" marL="0">
              <a:buNone/>
            </a:pPr>
            <a:r>
              <a:rPr lang="en-US" sz="2000" b="1" dirty="0">
                <a:solidFill>
                  <a:schemeClr val="bg1"/>
                </a:solidFill>
              </a:rPr>
              <a:t>No root cause</a:t>
            </a:r>
            <a:endParaRPr lang="en-US" sz="2000" dirty="0"/>
          </a:p>
        </p:txBody>
      </p:sp>
      <p:sp>
        <p:nvSpPr>
          <p:cNvPr id="19" name="No root cause detail"/>
          <p:cNvSpPr txBox="1"/>
          <p:nvPr/>
        </p:nvSpPr>
        <p:spPr>
          <a:xfrm>
            <a:off x="6492240" y="5257800"/>
            <a:ext cx="4937760" cy="640080"/>
          </a:xfrm>
          <a:prstGeom prst="rect">
            <a:avLst/>
          </a:prstGeom>
          <a:noFill/>
          <a:ln/>
        </p:spPr>
        <p:txBody>
          <a:bodyPr wrap="square" lIns="0" tIns="0" rIns="0" bIns="0" rtlCol="0" anchor="t"/>
          <a:lstStyle/>
          <a:p>
            <a:pPr indent="0" marL="0">
              <a:buNone/>
            </a:pPr>
            <a:r>
              <a:rPr lang="en-US" sz="1400" dirty="0">
                <a:solidFill>
                  <a:schemeClr val="accent6"/>
                </a:solidFill>
              </a:rPr>
              <a:t>Hours spent asking which source, which column, which batch, which fix.</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0C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Four layers of defence</a:t>
            </a:r>
            <a:endParaRPr lang="en-US" sz="3600" dirty="0"/>
          </a:p>
        </p:txBody>
      </p:sp>
      <p:sp>
        <p:nvSpPr>
          <p:cNvPr id="3" name="Layer card 1"/>
          <p:cNvSpPr/>
          <p:nvPr/>
        </p:nvSpPr>
        <p:spPr>
          <a:xfrm>
            <a:off x="548640" y="1508760"/>
            <a:ext cx="2651760" cy="4480560"/>
          </a:xfrm>
          <a:prstGeom prst="roundRect">
            <a:avLst>
              <a:gd name="adj" fmla="val 4138"/>
            </a:avLst>
          </a:prstGeom>
          <a:solidFill>
            <a:schemeClr val="tx2"/>
          </a:solidFill>
          <a:ln w="12700">
            <a:solidFill>
              <a:schemeClr val="accent5"/>
            </a:solidFill>
            <a:prstDash val="solid"/>
          </a:ln>
        </p:spPr>
      </p:sp>
      <p:sp>
        <p:nvSpPr>
          <p:cNvPr id="4" name="Icon Data contracts circle"/>
          <p:cNvSpPr/>
          <p:nvPr/>
        </p:nvSpPr>
        <p:spPr>
          <a:xfrm>
            <a:off x="822960" y="1783080"/>
            <a:ext cx="822960" cy="822960"/>
          </a:xfrm>
          <a:prstGeom prst="ellipse">
            <a:avLst/>
          </a:prstGeom>
          <a:solidFill>
            <a:srgbClr val="5B8CFF"/>
          </a:solidFill>
          <a:ln w="12700">
            <a:solidFill>
              <a:srgbClr val="5B8CFF"/>
            </a:solidFill>
            <a:prstDash val="solid"/>
          </a:ln>
        </p:spPr>
      </p:sp>
      <p:pic>
        <p:nvPicPr>
          <p:cNvPr id="5" name="Icon Data contracts" descr="Icon Data contracts">    </p:cNvPr>
          <p:cNvPicPr>
            <a:picLocks noChangeAspect="1"/>
          </p:cNvPicPr>
          <p:nvPr/>
        </p:nvPicPr>
        <p:blipFill>
          <a:blip r:embed="rId1"/>
          <a:stretch>
            <a:fillRect/>
          </a:stretch>
        </p:blipFill>
        <p:spPr>
          <a:xfrm>
            <a:off x="1036930" y="1997050"/>
            <a:ext cx="395021" cy="395021"/>
          </a:xfrm>
          <a:prstGeom prst="rect">
            <a:avLst/>
          </a:prstGeom>
        </p:spPr>
      </p:pic>
      <p:sp>
        <p:nvSpPr>
          <p:cNvPr id="6" name="Data contracts"/>
          <p:cNvSpPr txBox="1"/>
          <p:nvPr/>
        </p:nvSpPr>
        <p:spPr>
          <a:xfrm>
            <a:off x="822960" y="2834640"/>
            <a:ext cx="2194560" cy="411480"/>
          </a:xfrm>
          <a:prstGeom prst="rect">
            <a:avLst/>
          </a:prstGeom>
          <a:noFill/>
          <a:ln/>
        </p:spPr>
        <p:txBody>
          <a:bodyPr wrap="square" lIns="0" tIns="0" rIns="0" bIns="0" rtlCol="0" anchor="t"/>
          <a:lstStyle/>
          <a:p>
            <a:pPr indent="0" marL="0">
              <a:buNone/>
            </a:pPr>
            <a:r>
              <a:rPr lang="en-US" sz="2000" b="1" dirty="0">
                <a:solidFill>
                  <a:schemeClr val="bg1"/>
                </a:solidFill>
              </a:rPr>
              <a:t>Data contracts</a:t>
            </a:r>
            <a:endParaRPr lang="en-US" sz="2000" dirty="0"/>
          </a:p>
        </p:txBody>
      </p:sp>
      <p:sp>
        <p:nvSpPr>
          <p:cNvPr id="7" name="Data contracts detail"/>
          <p:cNvSpPr txBox="1"/>
          <p:nvPr/>
        </p:nvSpPr>
        <p:spPr>
          <a:xfrm>
            <a:off x="822960" y="3337560"/>
            <a:ext cx="2148840" cy="1737360"/>
          </a:xfrm>
          <a:prstGeom prst="rect">
            <a:avLst/>
          </a:prstGeom>
          <a:noFill/>
          <a:ln/>
        </p:spPr>
        <p:txBody>
          <a:bodyPr wrap="square" lIns="0" tIns="0" rIns="0" bIns="0" rtlCol="0" anchor="t"/>
          <a:lstStyle/>
          <a:p>
            <a:pPr indent="0" marL="0">
              <a:buNone/>
            </a:pPr>
            <a:r>
              <a:rPr lang="en-US" sz="1400" dirty="0">
                <a:solidFill>
                  <a:schemeClr val="accent6"/>
                </a:solidFill>
              </a:rPr>
              <a:t>YAML contracts gate Bronze to Silver. Rows that fail go to Quarantine with the exact rules they broke.</a:t>
            </a:r>
            <a:endParaRPr lang="en-US" sz="1400" dirty="0"/>
          </a:p>
        </p:txBody>
      </p:sp>
      <p:sp>
        <p:nvSpPr>
          <p:cNvPr id="8" name="Data contracts proof"/>
          <p:cNvSpPr txBox="1"/>
          <p:nvPr/>
        </p:nvSpPr>
        <p:spPr>
          <a:xfrm>
            <a:off x="822960" y="5166360"/>
            <a:ext cx="2148840" cy="640080"/>
          </a:xfrm>
          <a:prstGeom prst="rect">
            <a:avLst/>
          </a:prstGeom>
          <a:noFill/>
          <a:ln/>
        </p:spPr>
        <p:txBody>
          <a:bodyPr wrap="square" lIns="0" tIns="0" rIns="0" bIns="0" rtlCol="0" anchor="t"/>
          <a:lstStyle/>
          <a:p>
            <a:pPr indent="0" marL="0">
              <a:buNone/>
            </a:pPr>
            <a:r>
              <a:rPr lang="en-US" sz="1400" b="1" dirty="0">
                <a:solidFill>
                  <a:schemeClr val="accent1"/>
                </a:solidFill>
              </a:rPr>
              <a:t>Never a silent drop</a:t>
            </a:r>
            <a:endParaRPr lang="en-US" sz="1400" dirty="0"/>
          </a:p>
        </p:txBody>
      </p:sp>
      <p:sp>
        <p:nvSpPr>
          <p:cNvPr id="9" name="Layer card 2"/>
          <p:cNvSpPr/>
          <p:nvPr/>
        </p:nvSpPr>
        <p:spPr>
          <a:xfrm>
            <a:off x="3383280" y="1508760"/>
            <a:ext cx="2651760" cy="4480560"/>
          </a:xfrm>
          <a:prstGeom prst="roundRect">
            <a:avLst>
              <a:gd name="adj" fmla="val 4138"/>
            </a:avLst>
          </a:prstGeom>
          <a:solidFill>
            <a:schemeClr val="tx2"/>
          </a:solidFill>
          <a:ln w="12700">
            <a:solidFill>
              <a:schemeClr val="accent5"/>
            </a:solidFill>
            <a:prstDash val="solid"/>
          </a:ln>
        </p:spPr>
      </p:sp>
      <p:sp>
        <p:nvSpPr>
          <p:cNvPr id="10" name="Icon Self-healing circle"/>
          <p:cNvSpPr/>
          <p:nvPr/>
        </p:nvSpPr>
        <p:spPr>
          <a:xfrm>
            <a:off x="3657600" y="1783080"/>
            <a:ext cx="822960" cy="822960"/>
          </a:xfrm>
          <a:prstGeom prst="ellipse">
            <a:avLst/>
          </a:prstGeom>
          <a:solidFill>
            <a:srgbClr val="2DD4A8"/>
          </a:solidFill>
          <a:ln w="12700">
            <a:solidFill>
              <a:srgbClr val="2DD4A8"/>
            </a:solidFill>
            <a:prstDash val="solid"/>
          </a:ln>
        </p:spPr>
      </p:sp>
      <p:pic>
        <p:nvPicPr>
          <p:cNvPr id="11" name="Icon Self-healing" descr="Icon Self-healing">    </p:cNvPr>
          <p:cNvPicPr>
            <a:picLocks noChangeAspect="1"/>
          </p:cNvPicPr>
          <p:nvPr/>
        </p:nvPicPr>
        <p:blipFill>
          <a:blip r:embed="rId2"/>
          <a:stretch>
            <a:fillRect/>
          </a:stretch>
        </p:blipFill>
        <p:spPr>
          <a:xfrm>
            <a:off x="3871570" y="1997050"/>
            <a:ext cx="395021" cy="395021"/>
          </a:xfrm>
          <a:prstGeom prst="rect">
            <a:avLst/>
          </a:prstGeom>
        </p:spPr>
      </p:pic>
      <p:sp>
        <p:nvSpPr>
          <p:cNvPr id="12" name="Self-healing"/>
          <p:cNvSpPr txBox="1"/>
          <p:nvPr/>
        </p:nvSpPr>
        <p:spPr>
          <a:xfrm>
            <a:off x="3657600" y="2834640"/>
            <a:ext cx="2194560" cy="411480"/>
          </a:xfrm>
          <a:prstGeom prst="rect">
            <a:avLst/>
          </a:prstGeom>
          <a:noFill/>
          <a:ln/>
        </p:spPr>
        <p:txBody>
          <a:bodyPr wrap="square" lIns="0" tIns="0" rIns="0" bIns="0" rtlCol="0" anchor="t"/>
          <a:lstStyle/>
          <a:p>
            <a:pPr indent="0" marL="0">
              <a:buNone/>
            </a:pPr>
            <a:r>
              <a:rPr lang="en-US" sz="2000" b="1" dirty="0">
                <a:solidFill>
                  <a:schemeClr val="bg1"/>
                </a:solidFill>
              </a:rPr>
              <a:t>Self-healing</a:t>
            </a:r>
            <a:endParaRPr lang="en-US" sz="2000" dirty="0"/>
          </a:p>
        </p:txBody>
      </p:sp>
      <p:sp>
        <p:nvSpPr>
          <p:cNvPr id="13" name="Self-healing detail"/>
          <p:cNvSpPr txBox="1"/>
          <p:nvPr/>
        </p:nvSpPr>
        <p:spPr>
          <a:xfrm>
            <a:off x="3657600" y="3337560"/>
            <a:ext cx="2148840" cy="1737360"/>
          </a:xfrm>
          <a:prstGeom prst="rect">
            <a:avLst/>
          </a:prstGeom>
          <a:noFill/>
          <a:ln/>
        </p:spPr>
        <p:txBody>
          <a:bodyPr wrap="square" lIns="0" tIns="0" rIns="0" bIns="0" rtlCol="0" anchor="t"/>
          <a:lstStyle/>
          <a:p>
            <a:pPr indent="0" marL="0">
              <a:buNone/>
            </a:pPr>
            <a:r>
              <a:rPr lang="en-US" sz="1400" dirty="0">
                <a:solidFill>
                  <a:schemeClr val="accent6"/>
                </a:solidFill>
              </a:rPr>
              <a:t>Fixes only the unambiguous: whitespace, casing, aliases, currency-formatted numbers.</a:t>
            </a:r>
            <a:endParaRPr lang="en-US" sz="1400" dirty="0"/>
          </a:p>
        </p:txBody>
      </p:sp>
      <p:sp>
        <p:nvSpPr>
          <p:cNvPr id="14" name="Self-healing proof"/>
          <p:cNvSpPr txBox="1"/>
          <p:nvPr/>
        </p:nvSpPr>
        <p:spPr>
          <a:xfrm>
            <a:off x="3657600" y="5166360"/>
            <a:ext cx="2148840" cy="640080"/>
          </a:xfrm>
          <a:prstGeom prst="rect">
            <a:avLst/>
          </a:prstGeom>
          <a:noFill/>
          <a:ln/>
        </p:spPr>
        <p:txBody>
          <a:bodyPr wrap="square" lIns="0" tIns="0" rIns="0" bIns="0" rtlCol="0" anchor="t"/>
          <a:lstStyle/>
          <a:p>
            <a:pPr indent="0" marL="0">
              <a:buNone/>
            </a:pPr>
            <a:r>
              <a:rPr lang="en-US" sz="1400" b="1" dirty="0">
                <a:solidFill>
                  <a:schemeClr val="accent2"/>
                </a:solidFill>
              </a:rPr>
              <a:t>Over 10% healed raises an incident</a:t>
            </a:r>
            <a:endParaRPr lang="en-US" sz="1400" dirty="0"/>
          </a:p>
        </p:txBody>
      </p:sp>
      <p:sp>
        <p:nvSpPr>
          <p:cNvPr id="15" name="Layer card 3"/>
          <p:cNvSpPr/>
          <p:nvPr/>
        </p:nvSpPr>
        <p:spPr>
          <a:xfrm>
            <a:off x="6217920" y="1508760"/>
            <a:ext cx="2651760" cy="4480560"/>
          </a:xfrm>
          <a:prstGeom prst="roundRect">
            <a:avLst>
              <a:gd name="adj" fmla="val 4138"/>
            </a:avLst>
          </a:prstGeom>
          <a:solidFill>
            <a:schemeClr val="tx2"/>
          </a:solidFill>
          <a:ln w="12700">
            <a:solidFill>
              <a:schemeClr val="accent5"/>
            </a:solidFill>
            <a:prstDash val="solid"/>
          </a:ln>
        </p:spPr>
      </p:sp>
      <p:sp>
        <p:nvSpPr>
          <p:cNvPr id="16" name="Icon Observability circle"/>
          <p:cNvSpPr/>
          <p:nvPr/>
        </p:nvSpPr>
        <p:spPr>
          <a:xfrm>
            <a:off x="6492240" y="1783080"/>
            <a:ext cx="822960" cy="822960"/>
          </a:xfrm>
          <a:prstGeom prst="ellipse">
            <a:avLst/>
          </a:prstGeom>
          <a:solidFill>
            <a:srgbClr val="F5B942"/>
          </a:solidFill>
          <a:ln w="12700">
            <a:solidFill>
              <a:srgbClr val="F5B942"/>
            </a:solidFill>
            <a:prstDash val="solid"/>
          </a:ln>
        </p:spPr>
      </p:sp>
      <p:pic>
        <p:nvPicPr>
          <p:cNvPr id="17" name="Icon Observability" descr="Icon Observability">    </p:cNvPr>
          <p:cNvPicPr>
            <a:picLocks noChangeAspect="1"/>
          </p:cNvPicPr>
          <p:nvPr/>
        </p:nvPicPr>
        <p:blipFill>
          <a:blip r:embed="rId3"/>
          <a:stretch>
            <a:fillRect/>
          </a:stretch>
        </p:blipFill>
        <p:spPr>
          <a:xfrm>
            <a:off x="6706210" y="1997050"/>
            <a:ext cx="395021" cy="395021"/>
          </a:xfrm>
          <a:prstGeom prst="rect">
            <a:avLst/>
          </a:prstGeom>
        </p:spPr>
      </p:pic>
      <p:sp>
        <p:nvSpPr>
          <p:cNvPr id="18" name="Observability"/>
          <p:cNvSpPr txBox="1"/>
          <p:nvPr/>
        </p:nvSpPr>
        <p:spPr>
          <a:xfrm>
            <a:off x="6492240" y="2834640"/>
            <a:ext cx="2194560" cy="411480"/>
          </a:xfrm>
          <a:prstGeom prst="rect">
            <a:avLst/>
          </a:prstGeom>
          <a:noFill/>
          <a:ln/>
        </p:spPr>
        <p:txBody>
          <a:bodyPr wrap="square" lIns="0" tIns="0" rIns="0" bIns="0" rtlCol="0" anchor="t"/>
          <a:lstStyle/>
          <a:p>
            <a:pPr indent="0" marL="0">
              <a:buNone/>
            </a:pPr>
            <a:r>
              <a:rPr lang="en-US" sz="2000" b="1" dirty="0">
                <a:solidFill>
                  <a:schemeClr val="bg1"/>
                </a:solidFill>
              </a:rPr>
              <a:t>Observability</a:t>
            </a:r>
            <a:endParaRPr lang="en-US" sz="2000" dirty="0"/>
          </a:p>
        </p:txBody>
      </p:sp>
      <p:sp>
        <p:nvSpPr>
          <p:cNvPr id="19" name="Observability detail"/>
          <p:cNvSpPr txBox="1"/>
          <p:nvPr/>
        </p:nvSpPr>
        <p:spPr>
          <a:xfrm>
            <a:off x="6492240" y="3337560"/>
            <a:ext cx="2148840" cy="1737360"/>
          </a:xfrm>
          <a:prstGeom prst="rect">
            <a:avLst/>
          </a:prstGeom>
          <a:noFill/>
          <a:ln/>
        </p:spPr>
        <p:txBody>
          <a:bodyPr wrap="square" lIns="0" tIns="0" rIns="0" bIns="0" rtlCol="0" anchor="t"/>
          <a:lstStyle/>
          <a:p>
            <a:pPr indent="0" marL="0">
              <a:buNone/>
            </a:pPr>
            <a:r>
              <a:rPr lang="en-US" sz="1400" dirty="0">
                <a:solidFill>
                  <a:schemeClr val="accent6"/>
                </a:solidFill>
              </a:rPr>
              <a:t>Freshness, volume, nulls, schema and silent distribution drift (PSI).</a:t>
            </a:r>
            <a:endParaRPr lang="en-US" sz="1400" dirty="0"/>
          </a:p>
        </p:txBody>
      </p:sp>
      <p:sp>
        <p:nvSpPr>
          <p:cNvPr id="20" name="Observability proof"/>
          <p:cNvSpPr txBox="1"/>
          <p:nvPr/>
        </p:nvSpPr>
        <p:spPr>
          <a:xfrm>
            <a:off x="6492240" y="5166360"/>
            <a:ext cx="2148840" cy="640080"/>
          </a:xfrm>
          <a:prstGeom prst="rect">
            <a:avLst/>
          </a:prstGeom>
          <a:noFill/>
          <a:ln/>
        </p:spPr>
        <p:txBody>
          <a:bodyPr wrap="square" lIns="0" tIns="0" rIns="0" bIns="0" rtlCol="0" anchor="t"/>
          <a:lstStyle/>
          <a:p>
            <a:pPr indent="0" marL="0">
              <a:buNone/>
            </a:pPr>
            <a:r>
              <a:rPr lang="en-US" sz="1400" b="1" dirty="0">
                <a:solidFill>
                  <a:schemeClr val="accent4"/>
                </a:solidFill>
              </a:rPr>
              <a:t>Baseline learns only from healthy runs</a:t>
            </a:r>
            <a:endParaRPr lang="en-US" sz="1400" dirty="0"/>
          </a:p>
        </p:txBody>
      </p:sp>
      <p:sp>
        <p:nvSpPr>
          <p:cNvPr id="21" name="Layer card 4"/>
          <p:cNvSpPr/>
          <p:nvPr/>
        </p:nvSpPr>
        <p:spPr>
          <a:xfrm>
            <a:off x="9052560" y="1508760"/>
            <a:ext cx="2651760" cy="4480560"/>
          </a:xfrm>
          <a:prstGeom prst="roundRect">
            <a:avLst>
              <a:gd name="adj" fmla="val 4138"/>
            </a:avLst>
          </a:prstGeom>
          <a:solidFill>
            <a:schemeClr val="tx2"/>
          </a:solidFill>
          <a:ln w="12700">
            <a:solidFill>
              <a:schemeClr val="accent5"/>
            </a:solidFill>
            <a:prstDash val="solid"/>
          </a:ln>
        </p:spPr>
      </p:sp>
      <p:sp>
        <p:nvSpPr>
          <p:cNvPr id="22" name="Icon AI incident agent circle"/>
          <p:cNvSpPr/>
          <p:nvPr/>
        </p:nvSpPr>
        <p:spPr>
          <a:xfrm>
            <a:off x="9326880" y="1783080"/>
            <a:ext cx="822960" cy="822960"/>
          </a:xfrm>
          <a:prstGeom prst="ellipse">
            <a:avLst/>
          </a:prstGeom>
          <a:solidFill>
            <a:srgbClr val="FF5C7A"/>
          </a:solidFill>
          <a:ln w="12700">
            <a:solidFill>
              <a:srgbClr val="FF5C7A"/>
            </a:solidFill>
            <a:prstDash val="solid"/>
          </a:ln>
        </p:spPr>
      </p:sp>
      <p:pic>
        <p:nvPicPr>
          <p:cNvPr id="23" name="Icon AI incident agent" descr="Icon AI incident agent">    </p:cNvPr>
          <p:cNvPicPr>
            <a:picLocks noChangeAspect="1"/>
          </p:cNvPicPr>
          <p:nvPr/>
        </p:nvPicPr>
        <p:blipFill>
          <a:blip r:embed="rId4"/>
          <a:stretch>
            <a:fillRect/>
          </a:stretch>
        </p:blipFill>
        <p:spPr>
          <a:xfrm>
            <a:off x="9540850" y="1997050"/>
            <a:ext cx="395021" cy="395021"/>
          </a:xfrm>
          <a:prstGeom prst="rect">
            <a:avLst/>
          </a:prstGeom>
        </p:spPr>
      </p:pic>
      <p:sp>
        <p:nvSpPr>
          <p:cNvPr id="24" name="AI incident agent"/>
          <p:cNvSpPr txBox="1"/>
          <p:nvPr/>
        </p:nvSpPr>
        <p:spPr>
          <a:xfrm>
            <a:off x="9326880" y="2834640"/>
            <a:ext cx="2194560" cy="411480"/>
          </a:xfrm>
          <a:prstGeom prst="rect">
            <a:avLst/>
          </a:prstGeom>
          <a:noFill/>
          <a:ln/>
        </p:spPr>
        <p:txBody>
          <a:bodyPr wrap="square" lIns="0" tIns="0" rIns="0" bIns="0" rtlCol="0" anchor="t"/>
          <a:lstStyle/>
          <a:p>
            <a:pPr indent="0" marL="0">
              <a:buNone/>
            </a:pPr>
            <a:r>
              <a:rPr lang="en-US" sz="2000" b="1" dirty="0">
                <a:solidFill>
                  <a:schemeClr val="bg1"/>
                </a:solidFill>
              </a:rPr>
              <a:t>AI incident agent</a:t>
            </a:r>
            <a:endParaRPr lang="en-US" sz="2000" dirty="0"/>
          </a:p>
        </p:txBody>
      </p:sp>
      <p:sp>
        <p:nvSpPr>
          <p:cNvPr id="25" name="AI incident agent detail"/>
          <p:cNvSpPr txBox="1"/>
          <p:nvPr/>
        </p:nvSpPr>
        <p:spPr>
          <a:xfrm>
            <a:off x="9326880" y="3337560"/>
            <a:ext cx="2148840" cy="1737360"/>
          </a:xfrm>
          <a:prstGeom prst="rect">
            <a:avLst/>
          </a:prstGeom>
          <a:noFill/>
          <a:ln/>
        </p:spPr>
        <p:txBody>
          <a:bodyPr wrap="square" lIns="0" tIns="0" rIns="0" bIns="0" rtlCol="0" anchor="t"/>
          <a:lstStyle/>
          <a:p>
            <a:pPr indent="0" marL="0">
              <a:buNone/>
            </a:pPr>
            <a:r>
              <a:rPr lang="en-US" sz="1400" dirty="0">
                <a:solidFill>
                  <a:schemeClr val="accent6"/>
                </a:solidFill>
              </a:rPr>
              <a:t>Collapses alerts to one root cause, ranks hypotheses, retrieves the runbook.</a:t>
            </a:r>
            <a:endParaRPr lang="en-US" sz="1400" dirty="0"/>
          </a:p>
        </p:txBody>
      </p:sp>
      <p:sp>
        <p:nvSpPr>
          <p:cNvPr id="26" name="AI incident agent proof"/>
          <p:cNvSpPr txBox="1"/>
          <p:nvPr/>
        </p:nvSpPr>
        <p:spPr>
          <a:xfrm>
            <a:off x="9326880" y="5166360"/>
            <a:ext cx="2148840" cy="640080"/>
          </a:xfrm>
          <a:prstGeom prst="rect">
            <a:avLst/>
          </a:prstGeom>
          <a:noFill/>
          <a:ln/>
        </p:spPr>
        <p:txBody>
          <a:bodyPr wrap="square" lIns="0" tIns="0" rIns="0" bIns="0" rtlCol="0" anchor="t"/>
          <a:lstStyle/>
          <a:p>
            <a:pPr indent="0" marL="0">
              <a:buNone/>
            </a:pPr>
            <a:r>
              <a:rPr lang="en-US" sz="1400" b="1" dirty="0">
                <a:solidFill>
                  <a:schemeClr val="accent3"/>
                </a:solidFill>
              </a:rPr>
              <a:t>No API key needed</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0C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Every batch takes the same path</a:t>
            </a:r>
            <a:endParaRPr lang="en-US" sz="3600" dirty="0"/>
          </a:p>
        </p:txBody>
      </p:sp>
      <p:sp>
        <p:nvSpPr>
          <p:cNvPr id="3" name="Node Source"/>
          <p:cNvSpPr/>
          <p:nvPr/>
        </p:nvSpPr>
        <p:spPr>
          <a:xfrm>
            <a:off x="548640" y="1600200"/>
            <a:ext cx="1554480" cy="914400"/>
          </a:xfrm>
          <a:prstGeom prst="roundRect">
            <a:avLst>
              <a:gd name="adj" fmla="val 10000"/>
            </a:avLst>
          </a:prstGeom>
          <a:solidFill>
            <a:schemeClr val="tx2"/>
          </a:solidFill>
          <a:ln w="19050">
            <a:solidFill>
              <a:schemeClr val="accent1"/>
            </a:solidFill>
            <a:prstDash val="solid"/>
          </a:ln>
        </p:spPr>
      </p:sp>
      <p:sp>
        <p:nvSpPr>
          <p:cNvPr id="4" name="Node Source label"/>
          <p:cNvSpPr txBox="1"/>
          <p:nvPr/>
        </p:nvSpPr>
        <p:spPr>
          <a:xfrm>
            <a:off x="548640" y="1600200"/>
            <a:ext cx="1554480" cy="914400"/>
          </a:xfrm>
          <a:prstGeom prst="rect">
            <a:avLst/>
          </a:prstGeom>
          <a:noFill/>
          <a:ln/>
        </p:spPr>
        <p:txBody>
          <a:bodyPr wrap="square" lIns="0" tIns="0" rIns="0" bIns="0" rtlCol="0" anchor="ctr"/>
          <a:lstStyle/>
          <a:p>
            <a:pPr algn="ctr" indent="0" marL="0">
              <a:buNone/>
            </a:pPr>
            <a:r>
              <a:rPr lang="en-US" sz="1500" b="1" dirty="0">
                <a:solidFill>
                  <a:schemeClr val="bg1"/>
                </a:solidFill>
              </a:rPr>
              <a:t>Source</a:t>
            </a:r>
            <a:endParaRPr lang="en-US" sz="1500" dirty="0"/>
          </a:p>
        </p:txBody>
      </p:sp>
      <p:sp>
        <p:nvSpPr>
          <p:cNvPr id="5" name="Shape 3"/>
          <p:cNvSpPr/>
          <p:nvPr/>
        </p:nvSpPr>
        <p:spPr>
          <a:xfrm>
            <a:off x="2121408" y="2057400"/>
            <a:ext cx="310896" cy="0"/>
          </a:xfrm>
          <a:prstGeom prst="line">
            <a:avLst/>
          </a:prstGeom>
          <a:noFill/>
          <a:ln w="25400">
            <a:solidFill>
              <a:srgbClr val="8FA0C2"/>
            </a:solidFill>
            <a:prstDash val="solid"/>
            <a:tailEnd type="triangle"/>
          </a:ln>
        </p:spPr>
      </p:sp>
      <p:sp>
        <p:nvSpPr>
          <p:cNvPr id="6" name="Node Bronze raw"/>
          <p:cNvSpPr/>
          <p:nvPr/>
        </p:nvSpPr>
        <p:spPr>
          <a:xfrm>
            <a:off x="2450592" y="1600200"/>
            <a:ext cx="1554480" cy="914400"/>
          </a:xfrm>
          <a:prstGeom prst="roundRect">
            <a:avLst>
              <a:gd name="adj" fmla="val 10000"/>
            </a:avLst>
          </a:prstGeom>
          <a:solidFill>
            <a:schemeClr val="tx2"/>
          </a:solidFill>
          <a:ln w="19050">
            <a:solidFill>
              <a:schemeClr val="accent1"/>
            </a:solidFill>
            <a:prstDash val="solid"/>
          </a:ln>
        </p:spPr>
      </p:sp>
      <p:sp>
        <p:nvSpPr>
          <p:cNvPr id="7" name="Node Bronze raw label"/>
          <p:cNvSpPr txBox="1"/>
          <p:nvPr/>
        </p:nvSpPr>
        <p:spPr>
          <a:xfrm>
            <a:off x="2450592" y="1600200"/>
            <a:ext cx="1554480" cy="914400"/>
          </a:xfrm>
          <a:prstGeom prst="rect">
            <a:avLst/>
          </a:prstGeom>
          <a:noFill/>
          <a:ln/>
        </p:spPr>
        <p:txBody>
          <a:bodyPr wrap="square" lIns="0" tIns="0" rIns="0" bIns="0" rtlCol="0" anchor="ctr"/>
          <a:lstStyle/>
          <a:p>
            <a:pPr algn="ctr" indent="0" marL="0">
              <a:buNone/>
            </a:pPr>
            <a:r>
              <a:rPr lang="en-US" sz="1500" b="1" dirty="0">
                <a:solidFill>
                  <a:schemeClr val="bg1"/>
                </a:solidFill>
              </a:rPr>
              <a:t>Bronze</a:t>
            </a:r>
            <a:endParaRPr lang="en-US" sz="1500" dirty="0"/>
          </a:p>
          <a:p>
            <a:pPr algn="ctr" indent="0" marL="0">
              <a:buNone/>
            </a:pPr>
            <a:r>
              <a:rPr lang="en-US" sz="1500" b="1" dirty="0">
                <a:solidFill>
                  <a:schemeClr val="bg1"/>
                </a:solidFill>
              </a:rPr>
              <a:t>raw</a:t>
            </a:r>
            <a:endParaRPr lang="en-US" sz="1500" dirty="0"/>
          </a:p>
        </p:txBody>
      </p:sp>
      <p:sp>
        <p:nvSpPr>
          <p:cNvPr id="8" name="Shape 6"/>
          <p:cNvSpPr/>
          <p:nvPr/>
        </p:nvSpPr>
        <p:spPr>
          <a:xfrm>
            <a:off x="4023360" y="2057400"/>
            <a:ext cx="310896" cy="0"/>
          </a:xfrm>
          <a:prstGeom prst="line">
            <a:avLst/>
          </a:prstGeom>
          <a:noFill/>
          <a:ln w="25400">
            <a:solidFill>
              <a:srgbClr val="8FA0C2"/>
            </a:solidFill>
            <a:prstDash val="solid"/>
            <a:tailEnd type="triangle"/>
          </a:ln>
        </p:spPr>
      </p:sp>
      <p:sp>
        <p:nvSpPr>
          <p:cNvPr id="9" name="Node Self-heal"/>
          <p:cNvSpPr/>
          <p:nvPr/>
        </p:nvSpPr>
        <p:spPr>
          <a:xfrm>
            <a:off x="4352544" y="1600200"/>
            <a:ext cx="1554480" cy="914400"/>
          </a:xfrm>
          <a:prstGeom prst="roundRect">
            <a:avLst>
              <a:gd name="adj" fmla="val 10000"/>
            </a:avLst>
          </a:prstGeom>
          <a:solidFill>
            <a:schemeClr val="tx2"/>
          </a:solidFill>
          <a:ln w="19050">
            <a:solidFill>
              <a:schemeClr val="accent1"/>
            </a:solidFill>
            <a:prstDash val="solid"/>
          </a:ln>
        </p:spPr>
      </p:sp>
      <p:sp>
        <p:nvSpPr>
          <p:cNvPr id="10" name="Node Self-heal label"/>
          <p:cNvSpPr txBox="1"/>
          <p:nvPr/>
        </p:nvSpPr>
        <p:spPr>
          <a:xfrm>
            <a:off x="4352544" y="1600200"/>
            <a:ext cx="1554480" cy="914400"/>
          </a:xfrm>
          <a:prstGeom prst="rect">
            <a:avLst/>
          </a:prstGeom>
          <a:noFill/>
          <a:ln/>
        </p:spPr>
        <p:txBody>
          <a:bodyPr wrap="square" lIns="0" tIns="0" rIns="0" bIns="0" rtlCol="0" anchor="ctr"/>
          <a:lstStyle/>
          <a:p>
            <a:pPr algn="ctr" indent="0" marL="0">
              <a:buNone/>
            </a:pPr>
            <a:r>
              <a:rPr lang="en-US" sz="1500" b="1" dirty="0">
                <a:solidFill>
                  <a:schemeClr val="bg1"/>
                </a:solidFill>
              </a:rPr>
              <a:t>Self-heal</a:t>
            </a:r>
            <a:endParaRPr lang="en-US" sz="1500" dirty="0"/>
          </a:p>
        </p:txBody>
      </p:sp>
      <p:sp>
        <p:nvSpPr>
          <p:cNvPr id="11" name="Shape 9"/>
          <p:cNvSpPr/>
          <p:nvPr/>
        </p:nvSpPr>
        <p:spPr>
          <a:xfrm>
            <a:off x="5925312" y="2057400"/>
            <a:ext cx="310896" cy="0"/>
          </a:xfrm>
          <a:prstGeom prst="line">
            <a:avLst/>
          </a:prstGeom>
          <a:noFill/>
          <a:ln w="25400">
            <a:solidFill>
              <a:srgbClr val="8FA0C2"/>
            </a:solidFill>
            <a:prstDash val="solid"/>
            <a:tailEnd type="triangle"/>
          </a:ln>
        </p:spPr>
      </p:sp>
      <p:sp>
        <p:nvSpPr>
          <p:cNvPr id="12" name="Node Contract gate"/>
          <p:cNvSpPr/>
          <p:nvPr/>
        </p:nvSpPr>
        <p:spPr>
          <a:xfrm>
            <a:off x="6254496" y="1600200"/>
            <a:ext cx="1554480" cy="914400"/>
          </a:xfrm>
          <a:prstGeom prst="roundRect">
            <a:avLst>
              <a:gd name="adj" fmla="val 10000"/>
            </a:avLst>
          </a:prstGeom>
          <a:solidFill>
            <a:schemeClr val="accent2"/>
          </a:solidFill>
          <a:ln w="19050">
            <a:solidFill>
              <a:schemeClr val="accent2"/>
            </a:solidFill>
            <a:prstDash val="solid"/>
          </a:ln>
        </p:spPr>
      </p:sp>
      <p:sp>
        <p:nvSpPr>
          <p:cNvPr id="13" name="Node Contract gate label"/>
          <p:cNvSpPr txBox="1"/>
          <p:nvPr/>
        </p:nvSpPr>
        <p:spPr>
          <a:xfrm>
            <a:off x="6254496" y="1600200"/>
            <a:ext cx="1554480" cy="914400"/>
          </a:xfrm>
          <a:prstGeom prst="rect">
            <a:avLst/>
          </a:prstGeom>
          <a:noFill/>
          <a:ln/>
        </p:spPr>
        <p:txBody>
          <a:bodyPr wrap="square" lIns="0" tIns="0" rIns="0" bIns="0" rtlCol="0" anchor="ctr"/>
          <a:lstStyle/>
          <a:p>
            <a:pPr algn="ctr" indent="0" marL="0">
              <a:buNone/>
            </a:pPr>
            <a:r>
              <a:rPr lang="en-US" sz="1500" b="1" dirty="0">
                <a:solidFill>
                  <a:schemeClr val="tx1"/>
                </a:solidFill>
              </a:rPr>
              <a:t>Contract</a:t>
            </a:r>
            <a:endParaRPr lang="en-US" sz="1500" dirty="0"/>
          </a:p>
          <a:p>
            <a:pPr algn="ctr" indent="0" marL="0">
              <a:buNone/>
            </a:pPr>
            <a:r>
              <a:rPr lang="en-US" sz="1500" b="1" dirty="0">
                <a:solidFill>
                  <a:schemeClr val="tx1"/>
                </a:solidFill>
              </a:rPr>
              <a:t>gate</a:t>
            </a:r>
            <a:endParaRPr lang="en-US" sz="1500" dirty="0"/>
          </a:p>
        </p:txBody>
      </p:sp>
      <p:sp>
        <p:nvSpPr>
          <p:cNvPr id="14" name="Shape 12"/>
          <p:cNvSpPr/>
          <p:nvPr/>
        </p:nvSpPr>
        <p:spPr>
          <a:xfrm>
            <a:off x="7827264" y="2057400"/>
            <a:ext cx="310896" cy="0"/>
          </a:xfrm>
          <a:prstGeom prst="line">
            <a:avLst/>
          </a:prstGeom>
          <a:noFill/>
          <a:ln w="25400">
            <a:solidFill>
              <a:srgbClr val="8FA0C2"/>
            </a:solidFill>
            <a:prstDash val="solid"/>
            <a:tailEnd type="triangle"/>
          </a:ln>
        </p:spPr>
      </p:sp>
      <p:sp>
        <p:nvSpPr>
          <p:cNvPr id="15" name="Node Silver"/>
          <p:cNvSpPr/>
          <p:nvPr/>
        </p:nvSpPr>
        <p:spPr>
          <a:xfrm>
            <a:off x="8156448" y="1600200"/>
            <a:ext cx="1554480" cy="914400"/>
          </a:xfrm>
          <a:prstGeom prst="roundRect">
            <a:avLst>
              <a:gd name="adj" fmla="val 10000"/>
            </a:avLst>
          </a:prstGeom>
          <a:solidFill>
            <a:schemeClr val="tx2"/>
          </a:solidFill>
          <a:ln w="19050">
            <a:solidFill>
              <a:schemeClr val="accent1"/>
            </a:solidFill>
            <a:prstDash val="solid"/>
          </a:ln>
        </p:spPr>
      </p:sp>
      <p:sp>
        <p:nvSpPr>
          <p:cNvPr id="16" name="Node Silver label"/>
          <p:cNvSpPr txBox="1"/>
          <p:nvPr/>
        </p:nvSpPr>
        <p:spPr>
          <a:xfrm>
            <a:off x="8156448" y="1600200"/>
            <a:ext cx="1554480" cy="914400"/>
          </a:xfrm>
          <a:prstGeom prst="rect">
            <a:avLst/>
          </a:prstGeom>
          <a:noFill/>
          <a:ln/>
        </p:spPr>
        <p:txBody>
          <a:bodyPr wrap="square" lIns="0" tIns="0" rIns="0" bIns="0" rtlCol="0" anchor="ctr"/>
          <a:lstStyle/>
          <a:p>
            <a:pPr algn="ctr" indent="0" marL="0">
              <a:buNone/>
            </a:pPr>
            <a:r>
              <a:rPr lang="en-US" sz="1500" b="1" dirty="0">
                <a:solidFill>
                  <a:schemeClr val="bg1"/>
                </a:solidFill>
              </a:rPr>
              <a:t>Silver</a:t>
            </a:r>
            <a:endParaRPr lang="en-US" sz="1500" dirty="0"/>
          </a:p>
        </p:txBody>
      </p:sp>
      <p:sp>
        <p:nvSpPr>
          <p:cNvPr id="17" name="Shape 15"/>
          <p:cNvSpPr/>
          <p:nvPr/>
        </p:nvSpPr>
        <p:spPr>
          <a:xfrm>
            <a:off x="9729216" y="2057400"/>
            <a:ext cx="310896" cy="0"/>
          </a:xfrm>
          <a:prstGeom prst="line">
            <a:avLst/>
          </a:prstGeom>
          <a:noFill/>
          <a:ln w="25400">
            <a:solidFill>
              <a:srgbClr val="8FA0C2"/>
            </a:solidFill>
            <a:prstDash val="solid"/>
            <a:tailEnd type="triangle"/>
          </a:ln>
        </p:spPr>
      </p:sp>
      <p:sp>
        <p:nvSpPr>
          <p:cNvPr id="18" name="Node Gold marts"/>
          <p:cNvSpPr/>
          <p:nvPr/>
        </p:nvSpPr>
        <p:spPr>
          <a:xfrm>
            <a:off x="10058400" y="1600200"/>
            <a:ext cx="1554480" cy="914400"/>
          </a:xfrm>
          <a:prstGeom prst="roundRect">
            <a:avLst>
              <a:gd name="adj" fmla="val 10000"/>
            </a:avLst>
          </a:prstGeom>
          <a:solidFill>
            <a:schemeClr val="tx2"/>
          </a:solidFill>
          <a:ln w="19050">
            <a:solidFill>
              <a:schemeClr val="accent1"/>
            </a:solidFill>
            <a:prstDash val="solid"/>
          </a:ln>
        </p:spPr>
      </p:sp>
      <p:sp>
        <p:nvSpPr>
          <p:cNvPr id="19" name="Node Gold marts label"/>
          <p:cNvSpPr txBox="1"/>
          <p:nvPr/>
        </p:nvSpPr>
        <p:spPr>
          <a:xfrm>
            <a:off x="10058400" y="1600200"/>
            <a:ext cx="1554480" cy="914400"/>
          </a:xfrm>
          <a:prstGeom prst="rect">
            <a:avLst/>
          </a:prstGeom>
          <a:noFill/>
          <a:ln/>
        </p:spPr>
        <p:txBody>
          <a:bodyPr wrap="square" lIns="0" tIns="0" rIns="0" bIns="0" rtlCol="0" anchor="ctr"/>
          <a:lstStyle/>
          <a:p>
            <a:pPr algn="ctr" indent="0" marL="0">
              <a:buNone/>
            </a:pPr>
            <a:r>
              <a:rPr lang="en-US" sz="1500" b="1" dirty="0">
                <a:solidFill>
                  <a:schemeClr val="bg1"/>
                </a:solidFill>
              </a:rPr>
              <a:t>Gold marts</a:t>
            </a:r>
            <a:endParaRPr lang="en-US" sz="1500" dirty="0"/>
          </a:p>
        </p:txBody>
      </p:sp>
      <p:sp>
        <p:nvSpPr>
          <p:cNvPr id="20" name="Node Observability"/>
          <p:cNvSpPr/>
          <p:nvPr/>
        </p:nvSpPr>
        <p:spPr>
          <a:xfrm>
            <a:off x="2743200" y="3657600"/>
            <a:ext cx="1828800" cy="822960"/>
          </a:xfrm>
          <a:prstGeom prst="roundRect">
            <a:avLst>
              <a:gd name="adj" fmla="val 11111"/>
            </a:avLst>
          </a:prstGeom>
          <a:solidFill>
            <a:schemeClr val="tx2"/>
          </a:solidFill>
          <a:ln w="19050">
            <a:solidFill>
              <a:schemeClr val="accent4"/>
            </a:solidFill>
            <a:prstDash val="solid"/>
          </a:ln>
        </p:spPr>
      </p:sp>
      <p:sp>
        <p:nvSpPr>
          <p:cNvPr id="21" name="Node Observability label"/>
          <p:cNvSpPr txBox="1"/>
          <p:nvPr/>
        </p:nvSpPr>
        <p:spPr>
          <a:xfrm>
            <a:off x="2743200" y="3657600"/>
            <a:ext cx="1828800" cy="822960"/>
          </a:xfrm>
          <a:prstGeom prst="rect">
            <a:avLst/>
          </a:prstGeom>
          <a:noFill/>
          <a:ln/>
        </p:spPr>
        <p:txBody>
          <a:bodyPr wrap="square" lIns="0" tIns="0" rIns="0" bIns="0" rtlCol="0" anchor="ctr"/>
          <a:lstStyle/>
          <a:p>
            <a:pPr algn="ctr" indent="0" marL="0">
              <a:buNone/>
            </a:pPr>
            <a:r>
              <a:rPr lang="en-US" sz="1500" b="1" dirty="0">
                <a:solidFill>
                  <a:schemeClr val="bg1"/>
                </a:solidFill>
              </a:rPr>
              <a:t>Observability</a:t>
            </a:r>
            <a:endParaRPr lang="en-US" sz="1500" dirty="0"/>
          </a:p>
        </p:txBody>
      </p:sp>
      <p:sp>
        <p:nvSpPr>
          <p:cNvPr id="22" name="Node Quarantine"/>
          <p:cNvSpPr/>
          <p:nvPr/>
        </p:nvSpPr>
        <p:spPr>
          <a:xfrm>
            <a:off x="4937760" y="3657600"/>
            <a:ext cx="1828800" cy="822960"/>
          </a:xfrm>
          <a:prstGeom prst="roundRect">
            <a:avLst>
              <a:gd name="adj" fmla="val 11111"/>
            </a:avLst>
          </a:prstGeom>
          <a:solidFill>
            <a:schemeClr val="tx2"/>
          </a:solidFill>
          <a:ln w="19050">
            <a:solidFill>
              <a:schemeClr val="accent3"/>
            </a:solidFill>
            <a:prstDash val="solid"/>
          </a:ln>
        </p:spPr>
      </p:sp>
      <p:sp>
        <p:nvSpPr>
          <p:cNvPr id="23" name="Node Quarantine label"/>
          <p:cNvSpPr txBox="1"/>
          <p:nvPr/>
        </p:nvSpPr>
        <p:spPr>
          <a:xfrm>
            <a:off x="4937760" y="3657600"/>
            <a:ext cx="1828800" cy="822960"/>
          </a:xfrm>
          <a:prstGeom prst="rect">
            <a:avLst/>
          </a:prstGeom>
          <a:noFill/>
          <a:ln/>
        </p:spPr>
        <p:txBody>
          <a:bodyPr wrap="square" lIns="0" tIns="0" rIns="0" bIns="0" rtlCol="0" anchor="ctr"/>
          <a:lstStyle/>
          <a:p>
            <a:pPr algn="ctr" indent="0" marL="0">
              <a:buNone/>
            </a:pPr>
            <a:r>
              <a:rPr lang="en-US" sz="1300" b="1" dirty="0">
                <a:solidFill>
                  <a:schemeClr val="bg1"/>
                </a:solidFill>
              </a:rPr>
              <a:t>Quarantine</a:t>
            </a:r>
            <a:endParaRPr lang="en-US" sz="1300" dirty="0"/>
          </a:p>
          <a:p>
            <a:pPr algn="ctr" indent="0" marL="0">
              <a:buNone/>
            </a:pPr>
            <a:r>
              <a:rPr lang="en-US" sz="1300" b="1" dirty="0">
                <a:solidFill>
                  <a:schemeClr val="bg1"/>
                </a:solidFill>
              </a:rPr>
              <a:t>rows + reasons</a:t>
            </a:r>
            <a:endParaRPr lang="en-US" sz="1300" dirty="0"/>
          </a:p>
        </p:txBody>
      </p:sp>
      <p:sp>
        <p:nvSpPr>
          <p:cNvPr id="24" name="Node Blocked"/>
          <p:cNvSpPr/>
          <p:nvPr/>
        </p:nvSpPr>
        <p:spPr>
          <a:xfrm>
            <a:off x="7132320" y="3657600"/>
            <a:ext cx="2011680" cy="822960"/>
          </a:xfrm>
          <a:prstGeom prst="roundRect">
            <a:avLst>
              <a:gd name="adj" fmla="val 11111"/>
            </a:avLst>
          </a:prstGeom>
          <a:solidFill>
            <a:schemeClr val="accent3"/>
          </a:solidFill>
          <a:ln w="19050">
            <a:solidFill>
              <a:schemeClr val="accent3"/>
            </a:solidFill>
            <a:prstDash val="solid"/>
          </a:ln>
        </p:spPr>
      </p:sp>
      <p:sp>
        <p:nvSpPr>
          <p:cNvPr id="25" name="Node Blocked label"/>
          <p:cNvSpPr txBox="1"/>
          <p:nvPr/>
        </p:nvSpPr>
        <p:spPr>
          <a:xfrm>
            <a:off x="7132320" y="3657600"/>
            <a:ext cx="2011680" cy="822960"/>
          </a:xfrm>
          <a:prstGeom prst="rect">
            <a:avLst/>
          </a:prstGeom>
          <a:noFill/>
          <a:ln/>
        </p:spPr>
        <p:txBody>
          <a:bodyPr wrap="square" lIns="0" tIns="0" rIns="0" bIns="0" rtlCol="0" anchor="ctr"/>
          <a:lstStyle/>
          <a:p>
            <a:pPr algn="ctr" indent="0" marL="0">
              <a:buNone/>
            </a:pPr>
            <a:r>
              <a:rPr lang="en-US" sz="1200" b="1" dirty="0">
                <a:solidFill>
                  <a:schemeClr val="tx1"/>
                </a:solidFill>
              </a:rPr>
              <a:t>Batch blocked</a:t>
            </a:r>
            <a:endParaRPr lang="en-US" sz="1200" dirty="0"/>
          </a:p>
          <a:p>
            <a:pPr algn="ctr" indent="0" marL="0">
              <a:buNone/>
            </a:pPr>
            <a:r>
              <a:rPr lang="en-US" sz="1200" b="1" dirty="0">
                <a:solidFill>
                  <a:schemeClr val="tx1"/>
                </a:solidFill>
              </a:rPr>
              <a:t>schema break / &gt;50% bad</a:t>
            </a:r>
            <a:endParaRPr lang="en-US" sz="1200" dirty="0"/>
          </a:p>
        </p:txBody>
      </p:sp>
      <p:sp>
        <p:nvSpPr>
          <p:cNvPr id="26" name="Shape 24"/>
          <p:cNvSpPr/>
          <p:nvPr/>
        </p:nvSpPr>
        <p:spPr>
          <a:xfrm flipH="1">
            <a:off x="3657600" y="2532888"/>
            <a:ext cx="1472184" cy="1097280"/>
          </a:xfrm>
          <a:prstGeom prst="line">
            <a:avLst/>
          </a:prstGeom>
          <a:noFill/>
          <a:ln w="25400">
            <a:solidFill>
              <a:srgbClr val="8FA0C2"/>
            </a:solidFill>
            <a:prstDash val="solid"/>
            <a:tailEnd type="triangle"/>
          </a:ln>
        </p:spPr>
      </p:sp>
      <p:sp>
        <p:nvSpPr>
          <p:cNvPr id="27" name="Shape 25"/>
          <p:cNvSpPr/>
          <p:nvPr/>
        </p:nvSpPr>
        <p:spPr>
          <a:xfrm flipH="1">
            <a:off x="5852160" y="2532888"/>
            <a:ext cx="1179576" cy="1097280"/>
          </a:xfrm>
          <a:prstGeom prst="line">
            <a:avLst/>
          </a:prstGeom>
          <a:noFill/>
          <a:ln w="25400">
            <a:solidFill>
              <a:srgbClr val="8FA0C2"/>
            </a:solidFill>
            <a:prstDash val="solid"/>
            <a:tailEnd type="triangle"/>
          </a:ln>
        </p:spPr>
      </p:sp>
      <p:sp>
        <p:nvSpPr>
          <p:cNvPr id="28" name="Shape 26"/>
          <p:cNvSpPr/>
          <p:nvPr/>
        </p:nvSpPr>
        <p:spPr>
          <a:xfrm>
            <a:off x="7031736" y="2532888"/>
            <a:ext cx="1097280" cy="1097280"/>
          </a:xfrm>
          <a:prstGeom prst="line">
            <a:avLst/>
          </a:prstGeom>
          <a:noFill/>
          <a:ln w="25400">
            <a:solidFill>
              <a:srgbClr val="8FA0C2"/>
            </a:solidFill>
            <a:prstDash val="solid"/>
            <a:tailEnd type="triangle"/>
          </a:ln>
        </p:spPr>
      </p:sp>
      <p:sp>
        <p:nvSpPr>
          <p:cNvPr id="29" name="Node Incidents"/>
          <p:cNvSpPr/>
          <p:nvPr/>
        </p:nvSpPr>
        <p:spPr>
          <a:xfrm>
            <a:off x="2743200" y="5212080"/>
            <a:ext cx="1828800" cy="822960"/>
          </a:xfrm>
          <a:prstGeom prst="roundRect">
            <a:avLst>
              <a:gd name="adj" fmla="val 11111"/>
            </a:avLst>
          </a:prstGeom>
          <a:solidFill>
            <a:schemeClr val="tx2"/>
          </a:solidFill>
          <a:ln w="19050">
            <a:solidFill>
              <a:schemeClr val="accent4"/>
            </a:solidFill>
            <a:prstDash val="solid"/>
          </a:ln>
        </p:spPr>
      </p:sp>
      <p:sp>
        <p:nvSpPr>
          <p:cNvPr id="30" name="Node Incidents label"/>
          <p:cNvSpPr txBox="1"/>
          <p:nvPr/>
        </p:nvSpPr>
        <p:spPr>
          <a:xfrm>
            <a:off x="2743200" y="5212080"/>
            <a:ext cx="1828800" cy="822960"/>
          </a:xfrm>
          <a:prstGeom prst="rect">
            <a:avLst/>
          </a:prstGeom>
          <a:noFill/>
          <a:ln/>
        </p:spPr>
        <p:txBody>
          <a:bodyPr wrap="square" lIns="0" tIns="0" rIns="0" bIns="0" rtlCol="0" anchor="ctr"/>
          <a:lstStyle/>
          <a:p>
            <a:pPr algn="ctr" indent="0" marL="0">
              <a:buNone/>
            </a:pPr>
            <a:r>
              <a:rPr lang="en-US" sz="1500" b="1" dirty="0">
                <a:solidFill>
                  <a:schemeClr val="bg1"/>
                </a:solidFill>
              </a:rPr>
              <a:t>Incidents</a:t>
            </a:r>
            <a:endParaRPr lang="en-US" sz="1500" dirty="0"/>
          </a:p>
        </p:txBody>
      </p:sp>
      <p:sp>
        <p:nvSpPr>
          <p:cNvPr id="31" name="Node Agent"/>
          <p:cNvSpPr/>
          <p:nvPr/>
        </p:nvSpPr>
        <p:spPr>
          <a:xfrm>
            <a:off x="4937760" y="5212080"/>
            <a:ext cx="1828800" cy="822960"/>
          </a:xfrm>
          <a:prstGeom prst="roundRect">
            <a:avLst>
              <a:gd name="adj" fmla="val 11111"/>
            </a:avLst>
          </a:prstGeom>
          <a:solidFill>
            <a:schemeClr val="accent1"/>
          </a:solidFill>
          <a:ln w="19050">
            <a:solidFill>
              <a:schemeClr val="accent1"/>
            </a:solidFill>
            <a:prstDash val="solid"/>
          </a:ln>
        </p:spPr>
      </p:sp>
      <p:sp>
        <p:nvSpPr>
          <p:cNvPr id="32" name="Node Agent label"/>
          <p:cNvSpPr txBox="1"/>
          <p:nvPr/>
        </p:nvSpPr>
        <p:spPr>
          <a:xfrm>
            <a:off x="4937760" y="5212080"/>
            <a:ext cx="1828800" cy="822960"/>
          </a:xfrm>
          <a:prstGeom prst="rect">
            <a:avLst/>
          </a:prstGeom>
          <a:noFill/>
          <a:ln/>
        </p:spPr>
        <p:txBody>
          <a:bodyPr wrap="square" lIns="0" tIns="0" rIns="0" bIns="0" rtlCol="0" anchor="ctr"/>
          <a:lstStyle/>
          <a:p>
            <a:pPr algn="ctr" indent="0" marL="0">
              <a:buNone/>
            </a:pPr>
            <a:r>
              <a:rPr lang="en-US" sz="1500" b="1" dirty="0">
                <a:solidFill>
                  <a:schemeClr val="tx1"/>
                </a:solidFill>
              </a:rPr>
              <a:t>AI incident agent</a:t>
            </a:r>
            <a:endParaRPr lang="en-US" sz="1500" dirty="0"/>
          </a:p>
        </p:txBody>
      </p:sp>
      <p:sp>
        <p:nvSpPr>
          <p:cNvPr id="33" name="Node Dashboard"/>
          <p:cNvSpPr/>
          <p:nvPr/>
        </p:nvSpPr>
        <p:spPr>
          <a:xfrm>
            <a:off x="9921240" y="5212080"/>
            <a:ext cx="1737360" cy="822960"/>
          </a:xfrm>
          <a:prstGeom prst="roundRect">
            <a:avLst>
              <a:gd name="adj" fmla="val 11111"/>
            </a:avLst>
          </a:prstGeom>
          <a:solidFill>
            <a:schemeClr val="tx2"/>
          </a:solidFill>
          <a:ln w="19050">
            <a:solidFill>
              <a:schemeClr val="accent2"/>
            </a:solidFill>
            <a:prstDash val="solid"/>
          </a:ln>
        </p:spPr>
      </p:sp>
      <p:sp>
        <p:nvSpPr>
          <p:cNvPr id="34" name="Node Dashboard label"/>
          <p:cNvSpPr txBox="1"/>
          <p:nvPr/>
        </p:nvSpPr>
        <p:spPr>
          <a:xfrm>
            <a:off x="9921240" y="5212080"/>
            <a:ext cx="1737360" cy="822960"/>
          </a:xfrm>
          <a:prstGeom prst="rect">
            <a:avLst/>
          </a:prstGeom>
          <a:noFill/>
          <a:ln/>
        </p:spPr>
        <p:txBody>
          <a:bodyPr wrap="square" lIns="0" tIns="0" rIns="0" bIns="0" rtlCol="0" anchor="ctr"/>
          <a:lstStyle/>
          <a:p>
            <a:pPr algn="ctr" indent="0" marL="0">
              <a:buNone/>
            </a:pPr>
            <a:r>
              <a:rPr lang="en-US" sz="1300" b="1" dirty="0">
                <a:solidFill>
                  <a:schemeClr val="bg1"/>
                </a:solidFill>
              </a:rPr>
              <a:t>RCA dashboard</a:t>
            </a:r>
            <a:endParaRPr lang="en-US" sz="1300" dirty="0"/>
          </a:p>
          <a:p>
            <a:pPr algn="ctr" indent="0" marL="0">
              <a:buNone/>
            </a:pPr>
            <a:r>
              <a:rPr lang="en-US" sz="1300" b="1" dirty="0">
                <a:solidFill>
                  <a:schemeClr val="bg1"/>
                </a:solidFill>
              </a:rPr>
              <a:t>GitHub Pages</a:t>
            </a:r>
            <a:endParaRPr lang="en-US" sz="1300" dirty="0"/>
          </a:p>
        </p:txBody>
      </p:sp>
      <p:sp>
        <p:nvSpPr>
          <p:cNvPr id="35" name="Shape 33"/>
          <p:cNvSpPr/>
          <p:nvPr/>
        </p:nvSpPr>
        <p:spPr>
          <a:xfrm>
            <a:off x="3657600" y="4498848"/>
            <a:ext cx="0" cy="694944"/>
          </a:xfrm>
          <a:prstGeom prst="line">
            <a:avLst/>
          </a:prstGeom>
          <a:noFill/>
          <a:ln w="25400">
            <a:solidFill>
              <a:srgbClr val="8FA0C2"/>
            </a:solidFill>
            <a:prstDash val="solid"/>
            <a:tailEnd type="triangle"/>
          </a:ln>
        </p:spPr>
      </p:sp>
      <p:sp>
        <p:nvSpPr>
          <p:cNvPr id="36" name="Shape 34"/>
          <p:cNvSpPr/>
          <p:nvPr/>
        </p:nvSpPr>
        <p:spPr>
          <a:xfrm>
            <a:off x="4590288" y="5623560"/>
            <a:ext cx="329184" cy="0"/>
          </a:xfrm>
          <a:prstGeom prst="line">
            <a:avLst/>
          </a:prstGeom>
          <a:noFill/>
          <a:ln w="25400">
            <a:solidFill>
              <a:srgbClr val="8FA0C2"/>
            </a:solidFill>
            <a:prstDash val="solid"/>
            <a:tailEnd type="triangle"/>
          </a:ln>
        </p:spPr>
      </p:sp>
      <p:sp>
        <p:nvSpPr>
          <p:cNvPr id="37" name="Shape 35"/>
          <p:cNvSpPr/>
          <p:nvPr/>
        </p:nvSpPr>
        <p:spPr>
          <a:xfrm>
            <a:off x="6784848" y="5623560"/>
            <a:ext cx="3108960" cy="0"/>
          </a:xfrm>
          <a:prstGeom prst="line">
            <a:avLst/>
          </a:prstGeom>
          <a:noFill/>
          <a:ln w="25400">
            <a:solidFill>
              <a:srgbClr val="8FA0C2"/>
            </a:solidFill>
            <a:prstDash val="solid"/>
            <a:tailEnd type="triangle"/>
          </a:ln>
        </p:spPr>
      </p:sp>
      <p:sp>
        <p:nvSpPr>
          <p:cNvPr id="38" name="Shape 36"/>
          <p:cNvSpPr/>
          <p:nvPr/>
        </p:nvSpPr>
        <p:spPr>
          <a:xfrm>
            <a:off x="10789920" y="2532888"/>
            <a:ext cx="0" cy="2651760"/>
          </a:xfrm>
          <a:prstGeom prst="line">
            <a:avLst/>
          </a:prstGeom>
          <a:noFill/>
          <a:ln w="25400">
            <a:solidFill>
              <a:srgbClr val="8FA0C2"/>
            </a:solidFill>
            <a:prstDash val="solid"/>
            <a:tailEnd type="triangle"/>
          </a:ln>
        </p:spPr>
      </p:sp>
      <p:sp>
        <p:nvSpPr>
          <p:cNvPr id="39" name="Agent outputs"/>
          <p:cNvSpPr txBox="1"/>
          <p:nvPr/>
        </p:nvSpPr>
        <p:spPr>
          <a:xfrm>
            <a:off x="6949440" y="5257800"/>
            <a:ext cx="2926080" cy="274320"/>
          </a:xfrm>
          <a:prstGeom prst="rect">
            <a:avLst/>
          </a:prstGeom>
          <a:noFill/>
          <a:ln/>
        </p:spPr>
        <p:txBody>
          <a:bodyPr wrap="square" lIns="0" tIns="0" rIns="0" bIns="0" rtlCol="0" anchor="t"/>
          <a:lstStyle/>
          <a:p>
            <a:pPr algn="ctr" indent="0" marL="0">
              <a:buNone/>
            </a:pPr>
            <a:r>
              <a:rPr lang="en-US" sz="1200" dirty="0">
                <a:solidFill>
                  <a:schemeClr val="accent6"/>
                </a:solidFill>
              </a:rPr>
              <a:t>triage  ·  hypotheses  ·  runbook  ·  blast radius</a:t>
            </a:r>
            <a:endParaRPr lang="en-US" sz="1200" dirty="0"/>
          </a:p>
        </p:txBody>
      </p:sp>
      <p:sp>
        <p:nvSpPr>
          <p:cNvPr id="40" name="Replay note"/>
          <p:cNvSpPr/>
          <p:nvPr/>
        </p:nvSpPr>
        <p:spPr>
          <a:xfrm>
            <a:off x="548640" y="3657600"/>
            <a:ext cx="1920240" cy="2377440"/>
          </a:xfrm>
          <a:prstGeom prst="roundRect">
            <a:avLst>
              <a:gd name="adj" fmla="val 5714"/>
            </a:avLst>
          </a:prstGeom>
          <a:solidFill>
            <a:schemeClr val="tx2"/>
          </a:solidFill>
          <a:ln w="12700">
            <a:solidFill>
              <a:schemeClr val="accent5"/>
            </a:solidFill>
            <a:prstDash val="solid"/>
          </a:ln>
        </p:spPr>
      </p:sp>
      <p:sp>
        <p:nvSpPr>
          <p:cNvPr id="41" name="Replay title"/>
          <p:cNvSpPr txBox="1"/>
          <p:nvPr/>
        </p:nvSpPr>
        <p:spPr>
          <a:xfrm>
            <a:off x="731520" y="3840480"/>
            <a:ext cx="1645920" cy="320040"/>
          </a:xfrm>
          <a:prstGeom prst="rect">
            <a:avLst/>
          </a:prstGeom>
          <a:noFill/>
          <a:ln/>
        </p:spPr>
        <p:txBody>
          <a:bodyPr wrap="square" lIns="0" tIns="0" rIns="0" bIns="0" rtlCol="0" anchor="t"/>
          <a:lstStyle/>
          <a:p>
            <a:pPr indent="0" marL="0">
              <a:buNone/>
            </a:pPr>
            <a:r>
              <a:rPr lang="en-US" sz="1600" b="1" dirty="0">
                <a:solidFill>
                  <a:schemeClr val="accent2"/>
                </a:solidFill>
              </a:rPr>
              <a:t>Replay-safe</a:t>
            </a:r>
            <a:endParaRPr lang="en-US" sz="1600" dirty="0"/>
          </a:p>
        </p:txBody>
      </p:sp>
      <p:sp>
        <p:nvSpPr>
          <p:cNvPr id="42" name="Replay body"/>
          <p:cNvSpPr txBox="1"/>
          <p:nvPr/>
        </p:nvSpPr>
        <p:spPr>
          <a:xfrm>
            <a:off x="731520" y="4251960"/>
            <a:ext cx="1645920" cy="1691640"/>
          </a:xfrm>
          <a:prstGeom prst="rect">
            <a:avLst/>
          </a:prstGeom>
          <a:noFill/>
          <a:ln/>
        </p:spPr>
        <p:txBody>
          <a:bodyPr wrap="square" lIns="0" tIns="0" rIns="0" bIns="0" rtlCol="0" anchor="t"/>
          <a:lstStyle/>
          <a:p>
            <a:pPr indent="0" marL="0">
              <a:buNone/>
            </a:pPr>
            <a:r>
              <a:rPr lang="en-US" sz="1400" dirty="0">
                <a:solidFill>
                  <a:schemeClr val="accent6"/>
                </a:solidFill>
              </a:rPr>
              <a:t>Same batch_id overwrites its partitions and Gold rebuilds, so retries and backfills never double count.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0C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Clear rules for what happens next</a:t>
            </a:r>
            <a:endParaRPr lang="en-US" sz="3600" dirty="0"/>
          </a:p>
        </p:txBody>
      </p:sp>
      <p:graphicFrame>
        <p:nvGraphicFramePr>
          <p:cNvPr id="6" name="Decision policy"/>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474720"/>
                <a:gridCol w="7589520"/>
              </a:tblGrid>
              <a:tr h="64008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Situation</a:t>
                      </a:r>
                      <a:endParaRPr lang="en-US" sz="1400" dirty="0">
                        <a:latin typeface="Calibri" charset="0"/>
                        <a:ea typeface="Calibri" charset="0"/>
                        <a:cs typeface="Calibri" charset="0"/>
                      </a:endParaRPr>
                    </a:p>
                  </a:txBody>
                  <a:tcPr marL="137160" marR="137160" marT="45720" marB="45720"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accent5"/>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the platform does</a:t>
                      </a:r>
                      <a:endParaRPr lang="en-US" sz="1400" dirty="0">
                        <a:latin typeface="Calibri" charset="0"/>
                        <a:ea typeface="Calibri" charset="0"/>
                        <a:cs typeface="Calibri" charset="0"/>
                      </a:endParaRPr>
                    </a:p>
                  </a:txBody>
                  <a:tcPr marL="137160" marR="137160" marT="45720" marB="45720"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accent5"/>
                    </a:solidFill>
                  </a:tcPr>
                </a:tc>
              </a:tr>
              <a:tr h="64008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A row breaks a rule</a:t>
                      </a:r>
                      <a:endParaRPr lang="en-US" sz="1400" dirty="0">
                        <a:latin typeface="Calibri" charset="0"/>
                        <a:ea typeface="Calibri" charset="0"/>
                        <a:cs typeface="Calibri" charset="0"/>
                      </a:endParaRPr>
                    </a:p>
                  </a:txBody>
                  <a:tcPr marL="137160" marR="137160" marT="45720" marB="45720"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Row goes to Quarantine with every rule it broke; the rest of the batch continues</a:t>
                      </a:r>
                      <a:endParaRPr lang="en-US" sz="1400" dirty="0">
                        <a:latin typeface="Calibri" charset="0"/>
                        <a:ea typeface="Calibri" charset="0"/>
                        <a:cs typeface="Calibri" charset="0"/>
                      </a:endParaRPr>
                    </a:p>
                  </a:txBody>
                  <a:tcPr marL="137160" marR="137160" marT="45720" marB="45720"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r>
              <a:tr h="640080">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Required column missing</a:t>
                      </a:r>
                      <a:endParaRPr lang="en-US" sz="1400" dirty="0">
                        <a:latin typeface="Calibri" charset="0"/>
                        <a:ea typeface="Calibri" charset="0"/>
                        <a:cs typeface="Calibri" charset="0"/>
                      </a:endParaRPr>
                    </a:p>
                  </a:txBody>
                  <a:tcPr marL="137160" marR="137160" marT="45720" marB="45720"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Whole batch blocked, nothing reaches Silver, critical incident</a:t>
                      </a:r>
                      <a:endParaRPr lang="en-US" sz="1400" dirty="0">
                        <a:latin typeface="Calibri" charset="0"/>
                        <a:ea typeface="Calibri" charset="0"/>
                        <a:cs typeface="Calibri" charset="0"/>
                      </a:endParaRPr>
                    </a:p>
                  </a:txBody>
                  <a:tcPr marL="137160" marR="137160" marT="45720" marB="45720"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r>
              <a:tr h="640080">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More than 50% of rows fail</a:t>
                      </a:r>
                      <a:endParaRPr lang="en-US" sz="1400" dirty="0">
                        <a:latin typeface="Calibri" charset="0"/>
                        <a:ea typeface="Calibri" charset="0"/>
                        <a:cs typeface="Calibri" charset="0"/>
                      </a:endParaRPr>
                    </a:p>
                  </a:txBody>
                  <a:tcPr marL="137160" marR="137160" marT="45720" marB="45720"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Circuit breaker holds the batch: a heavily filtered partial batch would bias Gold KPIs</a:t>
                      </a:r>
                      <a:endParaRPr lang="en-US" sz="1400" dirty="0">
                        <a:latin typeface="Calibri" charset="0"/>
                        <a:ea typeface="Calibri" charset="0"/>
                        <a:cs typeface="Calibri" charset="0"/>
                      </a:endParaRPr>
                    </a:p>
                  </a:txBody>
                  <a:tcPr marL="137160" marR="137160" marT="45720" marB="45720"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r>
              <a:tr h="64008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Value is repairable without guessing</a:t>
                      </a:r>
                      <a:endParaRPr lang="en-US" sz="1400" dirty="0">
                        <a:latin typeface="Calibri" charset="0"/>
                        <a:ea typeface="Calibri" charset="0"/>
                        <a:cs typeface="Calibri" charset="0"/>
                      </a:endParaRPr>
                    </a:p>
                  </a:txBody>
                  <a:tcPr marL="137160" marR="137160" marT="45720" marB="45720"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Auto-repaired and counted; over 10% repaired raises high_heal_rate</a:t>
                      </a:r>
                      <a:endParaRPr lang="en-US" sz="1400" dirty="0">
                        <a:latin typeface="Calibri" charset="0"/>
                        <a:ea typeface="Calibri" charset="0"/>
                        <a:cs typeface="Calibri" charset="0"/>
                      </a:endParaRPr>
                    </a:p>
                  </a:txBody>
                  <a:tcPr marL="137160" marR="137160" marT="45720" marB="45720"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r>
              <a:tr h="640080">
                <a:tc>
                  <a:txBody>
                    <a:bodyPr/>
                    <a:lstStyle/>
                    <a:p>
                      <a:pPr indent="0" marL="0">
                        <a:buNone/>
                      </a:pPr>
                      <a:r>
                        <a:rPr lang="en-US" sz="1400" b="1" dirty="0">
                          <a:solidFill>
                            <a:schemeClr val="accent4"/>
                          </a:solidFill>
                          <a:latin typeface="Calibri" pitchFamily="34" charset="0"/>
                          <a:ea typeface="Calibri" pitchFamily="34" charset="-122"/>
                          <a:cs typeface="Calibri" pitchFamily="34" charset="-120"/>
                        </a:rPr>
                        <a:t>Data is valid but behaves differently</a:t>
                      </a:r>
                      <a:endParaRPr lang="en-US" sz="1400" dirty="0">
                        <a:latin typeface="Calibri" charset="0"/>
                        <a:ea typeface="Calibri" charset="0"/>
                        <a:cs typeface="Calibri" charset="0"/>
                      </a:endParaRPr>
                    </a:p>
                  </a:txBody>
                  <a:tcPr marL="137160" marR="137160" marT="45720" marB="45720"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Published and alerted: contracts block, observability alerts</a:t>
                      </a:r>
                      <a:endParaRPr lang="en-US" sz="1400" dirty="0">
                        <a:latin typeface="Calibri" charset="0"/>
                        <a:ea typeface="Calibri" charset="0"/>
                        <a:cs typeface="Calibri" charset="0"/>
                      </a:endParaRPr>
                    </a:p>
                  </a:txBody>
                  <a:tcPr marL="137160" marR="137160" marT="45720" marB="45720"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r>
              <a:tr h="640080">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Batch raised any incident</a:t>
                      </a:r>
                      <a:endParaRPr lang="en-US" sz="1400" dirty="0">
                        <a:latin typeface="Calibri" charset="0"/>
                        <a:ea typeface="Calibri" charset="0"/>
                        <a:cs typeface="Calibri" charset="0"/>
                      </a:endParaRPr>
                    </a:p>
                  </a:txBody>
                  <a:tcPr marL="137160" marR="137160" marT="45720" marB="45720"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Never updates the baseline, so bad data cannot teach the platform that bad is normal</a:t>
                      </a:r>
                      <a:endParaRPr lang="en-US" sz="1400" dirty="0">
                        <a:latin typeface="Calibri" charset="0"/>
                        <a:ea typeface="Calibri" charset="0"/>
                        <a:cs typeface="Calibri" charset="0"/>
                      </a:endParaRPr>
                    </a:p>
                  </a:txBody>
                  <a:tcPr marL="137160" marR="137160" marT="45720" marB="45720"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0C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Nine ways to break it, all injected on purpose</a:t>
            </a:r>
            <a:endParaRPr lang="en-US" sz="3600" dirty="0"/>
          </a:p>
        </p:txBody>
      </p:sp>
      <p:sp>
        <p:nvSpPr>
          <p:cNvPr id="3" name="Mode card null_burst"/>
          <p:cNvSpPr/>
          <p:nvPr/>
        </p:nvSpPr>
        <p:spPr>
          <a:xfrm>
            <a:off x="548640" y="1417320"/>
            <a:ext cx="3566160" cy="1417320"/>
          </a:xfrm>
          <a:prstGeom prst="roundRect">
            <a:avLst>
              <a:gd name="adj" fmla="val 7742"/>
            </a:avLst>
          </a:prstGeom>
          <a:solidFill>
            <a:schemeClr val="tx2"/>
          </a:solidFill>
          <a:ln w="12700">
            <a:solidFill>
              <a:schemeClr val="accent5"/>
            </a:solidFill>
            <a:prstDash val="solid"/>
          </a:ln>
        </p:spPr>
      </p:sp>
      <p:sp>
        <p:nvSpPr>
          <p:cNvPr id="4" name="Number 1"/>
          <p:cNvSpPr/>
          <p:nvPr/>
        </p:nvSpPr>
        <p:spPr>
          <a:xfrm>
            <a:off x="731520" y="1600200"/>
            <a:ext cx="457200" cy="457200"/>
          </a:xfrm>
          <a:prstGeom prst="ellipse">
            <a:avLst/>
          </a:prstGeom>
          <a:solidFill>
            <a:srgbClr val="5B8CFF"/>
          </a:solidFill>
          <a:ln w="12700">
            <a:solidFill>
              <a:srgbClr val="5B8CFF"/>
            </a:solidFill>
            <a:prstDash val="solid"/>
          </a:ln>
        </p:spPr>
      </p:sp>
      <p:sp>
        <p:nvSpPr>
          <p:cNvPr id="5" name="Number label 1"/>
          <p:cNvSpPr txBox="1"/>
          <p:nvPr/>
        </p:nvSpPr>
        <p:spPr>
          <a:xfrm>
            <a:off x="731520" y="16002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null_burst"/>
          <p:cNvSpPr txBox="1"/>
          <p:nvPr/>
        </p:nvSpPr>
        <p:spPr>
          <a:xfrm>
            <a:off x="1371600" y="1554480"/>
            <a:ext cx="2651760" cy="365760"/>
          </a:xfrm>
          <a:prstGeom prst="rect">
            <a:avLst/>
          </a:prstGeom>
          <a:noFill/>
          <a:ln/>
        </p:spPr>
        <p:txBody>
          <a:bodyPr wrap="square" lIns="0" tIns="0" rIns="0" bIns="0" rtlCol="0" anchor="t"/>
          <a:lstStyle/>
          <a:p>
            <a:pPr indent="0" marL="0">
              <a:buNone/>
            </a:pPr>
            <a:r>
              <a:rPr lang="en-US" sz="1800" b="1" dirty="0">
                <a:solidFill>
                  <a:schemeClr val="bg1"/>
                </a:solidFill>
              </a:rPr>
              <a:t>null_burst</a:t>
            </a:r>
            <a:endParaRPr lang="en-US" sz="1800" dirty="0"/>
          </a:p>
        </p:txBody>
      </p:sp>
      <p:sp>
        <p:nvSpPr>
          <p:cNvPr id="7" name="null_burst detail"/>
          <p:cNvSpPr txBox="1"/>
          <p:nvPr/>
        </p:nvSpPr>
        <p:spPr>
          <a:xfrm>
            <a:off x="1371600" y="1965960"/>
            <a:ext cx="2651760" cy="365760"/>
          </a:xfrm>
          <a:prstGeom prst="rect">
            <a:avLst/>
          </a:prstGeom>
          <a:noFill/>
          <a:ln/>
        </p:spPr>
        <p:txBody>
          <a:bodyPr wrap="square" lIns="0" tIns="0" rIns="0" bIns="0" rtlCol="0" anchor="t"/>
          <a:lstStyle/>
          <a:p>
            <a:pPr indent="0" marL="0">
              <a:buNone/>
            </a:pPr>
            <a:r>
              <a:rPr lang="en-US" sz="1400" dirty="0">
                <a:solidFill>
                  <a:schemeClr val="bg2"/>
                </a:solidFill>
              </a:rPr>
              <a:t>15% of customer_id nulled</a:t>
            </a:r>
            <a:endParaRPr lang="en-US" sz="1400" dirty="0"/>
          </a:p>
        </p:txBody>
      </p:sp>
      <p:sp>
        <p:nvSpPr>
          <p:cNvPr id="8" name="null_burst caught by"/>
          <p:cNvSpPr txBox="1"/>
          <p:nvPr/>
        </p:nvSpPr>
        <p:spPr>
          <a:xfrm>
            <a:off x="1371600" y="2377440"/>
            <a:ext cx="2651760" cy="274320"/>
          </a:xfrm>
          <a:prstGeom prst="rect">
            <a:avLst/>
          </a:prstGeom>
          <a:noFill/>
          <a:ln/>
        </p:spPr>
        <p:txBody>
          <a:bodyPr wrap="square" lIns="0" tIns="0" rIns="0" bIns="0" rtlCol="0" anchor="t"/>
          <a:lstStyle/>
          <a:p>
            <a:pPr indent="0" marL="0">
              <a:buNone/>
            </a:pPr>
            <a:r>
              <a:rPr lang="en-US" sz="1200" b="1" dirty="0">
                <a:solidFill>
                  <a:schemeClr val="accent6"/>
                </a:solidFill>
              </a:rPr>
              <a:t>Contract: not_null</a:t>
            </a:r>
            <a:endParaRPr lang="en-US" sz="1200" dirty="0"/>
          </a:p>
        </p:txBody>
      </p:sp>
      <p:sp>
        <p:nvSpPr>
          <p:cNvPr id="9" name="Mode card schema_drift"/>
          <p:cNvSpPr/>
          <p:nvPr/>
        </p:nvSpPr>
        <p:spPr>
          <a:xfrm>
            <a:off x="4297680" y="1417320"/>
            <a:ext cx="3566160" cy="1417320"/>
          </a:xfrm>
          <a:prstGeom prst="roundRect">
            <a:avLst>
              <a:gd name="adj" fmla="val 7742"/>
            </a:avLst>
          </a:prstGeom>
          <a:solidFill>
            <a:schemeClr val="tx2"/>
          </a:solidFill>
          <a:ln w="12700">
            <a:solidFill>
              <a:schemeClr val="accent5"/>
            </a:solidFill>
            <a:prstDash val="solid"/>
          </a:ln>
        </p:spPr>
      </p:sp>
      <p:sp>
        <p:nvSpPr>
          <p:cNvPr id="10" name="Number 2"/>
          <p:cNvSpPr/>
          <p:nvPr/>
        </p:nvSpPr>
        <p:spPr>
          <a:xfrm>
            <a:off x="4480560" y="1600200"/>
            <a:ext cx="457200" cy="457200"/>
          </a:xfrm>
          <a:prstGeom prst="ellipse">
            <a:avLst/>
          </a:prstGeom>
          <a:solidFill>
            <a:srgbClr val="FF5C7A"/>
          </a:solidFill>
          <a:ln w="12700">
            <a:solidFill>
              <a:srgbClr val="FF5C7A"/>
            </a:solidFill>
            <a:prstDash val="solid"/>
          </a:ln>
        </p:spPr>
      </p:sp>
      <p:sp>
        <p:nvSpPr>
          <p:cNvPr id="11" name="Number label 2"/>
          <p:cNvSpPr txBox="1"/>
          <p:nvPr/>
        </p:nvSpPr>
        <p:spPr>
          <a:xfrm>
            <a:off x="4480560" y="16002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2" name="schema_drift"/>
          <p:cNvSpPr txBox="1"/>
          <p:nvPr/>
        </p:nvSpPr>
        <p:spPr>
          <a:xfrm>
            <a:off x="5120640" y="1554480"/>
            <a:ext cx="2651760" cy="365760"/>
          </a:xfrm>
          <a:prstGeom prst="rect">
            <a:avLst/>
          </a:prstGeom>
          <a:noFill/>
          <a:ln/>
        </p:spPr>
        <p:txBody>
          <a:bodyPr wrap="square" lIns="0" tIns="0" rIns="0" bIns="0" rtlCol="0" anchor="t"/>
          <a:lstStyle/>
          <a:p>
            <a:pPr indent="0" marL="0">
              <a:buNone/>
            </a:pPr>
            <a:r>
              <a:rPr lang="en-US" sz="1800" b="1" dirty="0">
                <a:solidFill>
                  <a:schemeClr val="bg1"/>
                </a:solidFill>
              </a:rPr>
              <a:t>schema_drift</a:t>
            </a:r>
            <a:endParaRPr lang="en-US" sz="1800" dirty="0"/>
          </a:p>
        </p:txBody>
      </p:sp>
      <p:sp>
        <p:nvSpPr>
          <p:cNvPr id="13" name="schema_drift detail"/>
          <p:cNvSpPr txBox="1"/>
          <p:nvPr/>
        </p:nvSpPr>
        <p:spPr>
          <a:xfrm>
            <a:off x="5120640" y="1965960"/>
            <a:ext cx="2651760" cy="365760"/>
          </a:xfrm>
          <a:prstGeom prst="rect">
            <a:avLst/>
          </a:prstGeom>
          <a:noFill/>
          <a:ln/>
        </p:spPr>
        <p:txBody>
          <a:bodyPr wrap="square" lIns="0" tIns="0" rIns="0" bIns="0" rtlCol="0" anchor="t"/>
          <a:lstStyle/>
          <a:p>
            <a:pPr indent="0" marL="0">
              <a:buNone/>
            </a:pPr>
            <a:r>
              <a:rPr lang="en-US" sz="1400" dirty="0">
                <a:solidFill>
                  <a:schemeClr val="bg2"/>
                </a:solidFill>
              </a:rPr>
              <a:t>amount renamed to order_amount</a:t>
            </a:r>
            <a:endParaRPr lang="en-US" sz="1400" dirty="0"/>
          </a:p>
        </p:txBody>
      </p:sp>
      <p:sp>
        <p:nvSpPr>
          <p:cNvPr id="14" name="schema_drift caught by"/>
          <p:cNvSpPr txBox="1"/>
          <p:nvPr/>
        </p:nvSpPr>
        <p:spPr>
          <a:xfrm>
            <a:off x="5120640" y="2377440"/>
            <a:ext cx="2651760" cy="274320"/>
          </a:xfrm>
          <a:prstGeom prst="rect">
            <a:avLst/>
          </a:prstGeom>
          <a:noFill/>
          <a:ln/>
        </p:spPr>
        <p:txBody>
          <a:bodyPr wrap="square" lIns="0" tIns="0" rIns="0" bIns="0" rtlCol="0" anchor="t"/>
          <a:lstStyle/>
          <a:p>
            <a:pPr indent="0" marL="0">
              <a:buNone/>
            </a:pPr>
            <a:r>
              <a:rPr lang="en-US" sz="1200" b="1" dirty="0">
                <a:solidFill>
                  <a:schemeClr val="accent6"/>
                </a:solidFill>
              </a:rPr>
              <a:t>Schema break, batch blocked</a:t>
            </a:r>
            <a:endParaRPr lang="en-US" sz="1200" dirty="0"/>
          </a:p>
        </p:txBody>
      </p:sp>
      <p:sp>
        <p:nvSpPr>
          <p:cNvPr id="15" name="Mode card type_drift"/>
          <p:cNvSpPr/>
          <p:nvPr/>
        </p:nvSpPr>
        <p:spPr>
          <a:xfrm>
            <a:off x="8046720" y="1417320"/>
            <a:ext cx="3566160" cy="1417320"/>
          </a:xfrm>
          <a:prstGeom prst="roundRect">
            <a:avLst>
              <a:gd name="adj" fmla="val 7742"/>
            </a:avLst>
          </a:prstGeom>
          <a:solidFill>
            <a:schemeClr val="tx2"/>
          </a:solidFill>
          <a:ln w="12700">
            <a:solidFill>
              <a:schemeClr val="accent5"/>
            </a:solidFill>
            <a:prstDash val="solid"/>
          </a:ln>
        </p:spPr>
      </p:sp>
      <p:sp>
        <p:nvSpPr>
          <p:cNvPr id="16" name="Number 3"/>
          <p:cNvSpPr/>
          <p:nvPr/>
        </p:nvSpPr>
        <p:spPr>
          <a:xfrm>
            <a:off x="8229600" y="1600200"/>
            <a:ext cx="457200" cy="457200"/>
          </a:xfrm>
          <a:prstGeom prst="ellipse">
            <a:avLst/>
          </a:prstGeom>
          <a:solidFill>
            <a:srgbClr val="5B8CFF"/>
          </a:solidFill>
          <a:ln w="12700">
            <a:solidFill>
              <a:srgbClr val="5B8CFF"/>
            </a:solidFill>
            <a:prstDash val="solid"/>
          </a:ln>
        </p:spPr>
      </p:sp>
      <p:sp>
        <p:nvSpPr>
          <p:cNvPr id="17" name="Number label 3"/>
          <p:cNvSpPr txBox="1"/>
          <p:nvPr/>
        </p:nvSpPr>
        <p:spPr>
          <a:xfrm>
            <a:off x="8229600" y="16002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8" name="type_drift"/>
          <p:cNvSpPr txBox="1"/>
          <p:nvPr/>
        </p:nvSpPr>
        <p:spPr>
          <a:xfrm>
            <a:off x="8869680" y="1554480"/>
            <a:ext cx="2651760" cy="365760"/>
          </a:xfrm>
          <a:prstGeom prst="rect">
            <a:avLst/>
          </a:prstGeom>
          <a:noFill/>
          <a:ln/>
        </p:spPr>
        <p:txBody>
          <a:bodyPr wrap="square" lIns="0" tIns="0" rIns="0" bIns="0" rtlCol="0" anchor="t"/>
          <a:lstStyle/>
          <a:p>
            <a:pPr indent="0" marL="0">
              <a:buNone/>
            </a:pPr>
            <a:r>
              <a:rPr lang="en-US" sz="1800" b="1" dirty="0">
                <a:solidFill>
                  <a:schemeClr val="bg1"/>
                </a:solidFill>
              </a:rPr>
              <a:t>type_drift</a:t>
            </a:r>
            <a:endParaRPr lang="en-US" sz="1800" dirty="0"/>
          </a:p>
        </p:txBody>
      </p:sp>
      <p:sp>
        <p:nvSpPr>
          <p:cNvPr id="19" name="type_drift detail"/>
          <p:cNvSpPr txBox="1"/>
          <p:nvPr/>
        </p:nvSpPr>
        <p:spPr>
          <a:xfrm>
            <a:off x="8869680" y="1965960"/>
            <a:ext cx="2651760" cy="365760"/>
          </a:xfrm>
          <a:prstGeom prst="rect">
            <a:avLst/>
          </a:prstGeom>
          <a:noFill/>
          <a:ln/>
        </p:spPr>
        <p:txBody>
          <a:bodyPr wrap="square" lIns="0" tIns="0" rIns="0" bIns="0" rtlCol="0" anchor="t"/>
          <a:lstStyle/>
          <a:p>
            <a:pPr indent="0" marL="0">
              <a:buNone/>
            </a:pPr>
            <a:r>
              <a:rPr lang="en-US" sz="1400" dirty="0">
                <a:solidFill>
                  <a:schemeClr val="bg2"/>
                </a:solidFill>
              </a:rPr>
              <a:t>N/A and -- in a numeric field</a:t>
            </a:r>
            <a:endParaRPr lang="en-US" sz="1400" dirty="0"/>
          </a:p>
        </p:txBody>
      </p:sp>
      <p:sp>
        <p:nvSpPr>
          <p:cNvPr id="20" name="type_drift caught by"/>
          <p:cNvSpPr txBox="1"/>
          <p:nvPr/>
        </p:nvSpPr>
        <p:spPr>
          <a:xfrm>
            <a:off x="8869680" y="2377440"/>
            <a:ext cx="2651760" cy="274320"/>
          </a:xfrm>
          <a:prstGeom prst="rect">
            <a:avLst/>
          </a:prstGeom>
          <a:noFill/>
          <a:ln/>
        </p:spPr>
        <p:txBody>
          <a:bodyPr wrap="square" lIns="0" tIns="0" rIns="0" bIns="0" rtlCol="0" anchor="t"/>
          <a:lstStyle/>
          <a:p>
            <a:pPr indent="0" marL="0">
              <a:buNone/>
            </a:pPr>
            <a:r>
              <a:rPr lang="en-US" sz="1200" b="1" dirty="0">
                <a:solidFill>
                  <a:schemeClr val="accent6"/>
                </a:solidFill>
              </a:rPr>
              <a:t>Contract: type</a:t>
            </a:r>
            <a:endParaRPr lang="en-US" sz="1200" dirty="0"/>
          </a:p>
        </p:txBody>
      </p:sp>
      <p:sp>
        <p:nvSpPr>
          <p:cNvPr id="21" name="Mode card duplicate_flood"/>
          <p:cNvSpPr/>
          <p:nvPr/>
        </p:nvSpPr>
        <p:spPr>
          <a:xfrm>
            <a:off x="548640" y="3017520"/>
            <a:ext cx="3566160" cy="1417320"/>
          </a:xfrm>
          <a:prstGeom prst="roundRect">
            <a:avLst>
              <a:gd name="adj" fmla="val 7742"/>
            </a:avLst>
          </a:prstGeom>
          <a:solidFill>
            <a:schemeClr val="tx2"/>
          </a:solidFill>
          <a:ln w="12700">
            <a:solidFill>
              <a:schemeClr val="accent5"/>
            </a:solidFill>
            <a:prstDash val="solid"/>
          </a:ln>
        </p:spPr>
      </p:sp>
      <p:sp>
        <p:nvSpPr>
          <p:cNvPr id="22" name="Number 4"/>
          <p:cNvSpPr/>
          <p:nvPr/>
        </p:nvSpPr>
        <p:spPr>
          <a:xfrm>
            <a:off x="731520" y="3200400"/>
            <a:ext cx="457200" cy="457200"/>
          </a:xfrm>
          <a:prstGeom prst="ellipse">
            <a:avLst/>
          </a:prstGeom>
          <a:solidFill>
            <a:srgbClr val="5B8CFF"/>
          </a:solidFill>
          <a:ln w="12700">
            <a:solidFill>
              <a:srgbClr val="5B8CFF"/>
            </a:solidFill>
            <a:prstDash val="solid"/>
          </a:ln>
        </p:spPr>
      </p:sp>
      <p:sp>
        <p:nvSpPr>
          <p:cNvPr id="23" name="Number label 4"/>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4" name="duplicate_flood"/>
          <p:cNvSpPr txBox="1"/>
          <p:nvPr/>
        </p:nvSpPr>
        <p:spPr>
          <a:xfrm>
            <a:off x="1371600" y="3154680"/>
            <a:ext cx="2651760" cy="365760"/>
          </a:xfrm>
          <a:prstGeom prst="rect">
            <a:avLst/>
          </a:prstGeom>
          <a:noFill/>
          <a:ln/>
        </p:spPr>
        <p:txBody>
          <a:bodyPr wrap="square" lIns="0" tIns="0" rIns="0" bIns="0" rtlCol="0" anchor="t"/>
          <a:lstStyle/>
          <a:p>
            <a:pPr indent="0" marL="0">
              <a:buNone/>
            </a:pPr>
            <a:r>
              <a:rPr lang="en-US" sz="1800" b="1" dirty="0">
                <a:solidFill>
                  <a:schemeClr val="bg1"/>
                </a:solidFill>
              </a:rPr>
              <a:t>duplicate_flood</a:t>
            </a:r>
            <a:endParaRPr lang="en-US" sz="1800" dirty="0"/>
          </a:p>
        </p:txBody>
      </p:sp>
      <p:sp>
        <p:nvSpPr>
          <p:cNvPr id="25" name="duplicate_flood detail"/>
          <p:cNvSpPr txBox="1"/>
          <p:nvPr/>
        </p:nvSpPr>
        <p:spPr>
          <a:xfrm>
            <a:off x="1371600" y="3566160"/>
            <a:ext cx="2651760" cy="365760"/>
          </a:xfrm>
          <a:prstGeom prst="rect">
            <a:avLst/>
          </a:prstGeom>
          <a:noFill/>
          <a:ln/>
        </p:spPr>
        <p:txBody>
          <a:bodyPr wrap="square" lIns="0" tIns="0" rIns="0" bIns="0" rtlCol="0" anchor="t"/>
          <a:lstStyle/>
          <a:p>
            <a:pPr indent="0" marL="0">
              <a:buNone/>
            </a:pPr>
            <a:r>
              <a:rPr lang="en-US" sz="1400" dirty="0">
                <a:solidFill>
                  <a:schemeClr val="bg2"/>
                </a:solidFill>
              </a:rPr>
              <a:t>25% of orders delivered twice</a:t>
            </a:r>
            <a:endParaRPr lang="en-US" sz="1400" dirty="0"/>
          </a:p>
        </p:txBody>
      </p:sp>
      <p:sp>
        <p:nvSpPr>
          <p:cNvPr id="26" name="duplicate_flood caught by"/>
          <p:cNvSpPr txBox="1"/>
          <p:nvPr/>
        </p:nvSpPr>
        <p:spPr>
          <a:xfrm>
            <a:off x="1371600" y="3977640"/>
            <a:ext cx="2651760" cy="274320"/>
          </a:xfrm>
          <a:prstGeom prst="rect">
            <a:avLst/>
          </a:prstGeom>
          <a:noFill/>
          <a:ln/>
        </p:spPr>
        <p:txBody>
          <a:bodyPr wrap="square" lIns="0" tIns="0" rIns="0" bIns="0" rtlCol="0" anchor="t"/>
          <a:lstStyle/>
          <a:p>
            <a:pPr indent="0" marL="0">
              <a:buNone/>
            </a:pPr>
            <a:r>
              <a:rPr lang="en-US" sz="1200" b="1" dirty="0">
                <a:solidFill>
                  <a:schemeClr val="accent6"/>
                </a:solidFill>
              </a:rPr>
              <a:t>Contract: unique</a:t>
            </a:r>
            <a:endParaRPr lang="en-US" sz="1200" dirty="0"/>
          </a:p>
        </p:txBody>
      </p:sp>
      <p:sp>
        <p:nvSpPr>
          <p:cNvPr id="27" name="Mode card volume_drop"/>
          <p:cNvSpPr/>
          <p:nvPr/>
        </p:nvSpPr>
        <p:spPr>
          <a:xfrm>
            <a:off x="4297680" y="3017520"/>
            <a:ext cx="3566160" cy="1417320"/>
          </a:xfrm>
          <a:prstGeom prst="roundRect">
            <a:avLst>
              <a:gd name="adj" fmla="val 7742"/>
            </a:avLst>
          </a:prstGeom>
          <a:solidFill>
            <a:schemeClr val="tx2"/>
          </a:solidFill>
          <a:ln w="12700">
            <a:solidFill>
              <a:schemeClr val="accent5"/>
            </a:solidFill>
            <a:prstDash val="solid"/>
          </a:ln>
        </p:spPr>
      </p:sp>
      <p:sp>
        <p:nvSpPr>
          <p:cNvPr id="28" name="Number 5"/>
          <p:cNvSpPr/>
          <p:nvPr/>
        </p:nvSpPr>
        <p:spPr>
          <a:xfrm>
            <a:off x="4480560" y="3200400"/>
            <a:ext cx="457200" cy="457200"/>
          </a:xfrm>
          <a:prstGeom prst="ellipse">
            <a:avLst/>
          </a:prstGeom>
          <a:solidFill>
            <a:srgbClr val="F5B942"/>
          </a:solidFill>
          <a:ln w="12700">
            <a:solidFill>
              <a:srgbClr val="F5B942"/>
            </a:solidFill>
            <a:prstDash val="solid"/>
          </a:ln>
        </p:spPr>
      </p:sp>
      <p:sp>
        <p:nvSpPr>
          <p:cNvPr id="29" name="Number label 5"/>
          <p:cNvSpPr txBox="1"/>
          <p:nvPr/>
        </p:nvSpPr>
        <p:spPr>
          <a:xfrm>
            <a:off x="4480560" y="32004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30" name="volume_drop"/>
          <p:cNvSpPr txBox="1"/>
          <p:nvPr/>
        </p:nvSpPr>
        <p:spPr>
          <a:xfrm>
            <a:off x="5120640" y="3154680"/>
            <a:ext cx="2651760" cy="365760"/>
          </a:xfrm>
          <a:prstGeom prst="rect">
            <a:avLst/>
          </a:prstGeom>
          <a:noFill/>
          <a:ln/>
        </p:spPr>
        <p:txBody>
          <a:bodyPr wrap="square" lIns="0" tIns="0" rIns="0" bIns="0" rtlCol="0" anchor="t"/>
          <a:lstStyle/>
          <a:p>
            <a:pPr indent="0" marL="0">
              <a:buNone/>
            </a:pPr>
            <a:r>
              <a:rPr lang="en-US" sz="1800" b="1" dirty="0">
                <a:solidFill>
                  <a:schemeClr val="bg1"/>
                </a:solidFill>
              </a:rPr>
              <a:t>volume_drop</a:t>
            </a:r>
            <a:endParaRPr lang="en-US" sz="1800" dirty="0"/>
          </a:p>
        </p:txBody>
      </p:sp>
      <p:sp>
        <p:nvSpPr>
          <p:cNvPr id="31" name="volume_drop detail"/>
          <p:cNvSpPr txBox="1"/>
          <p:nvPr/>
        </p:nvSpPr>
        <p:spPr>
          <a:xfrm>
            <a:off x="5120640" y="3566160"/>
            <a:ext cx="2651760" cy="365760"/>
          </a:xfrm>
          <a:prstGeom prst="rect">
            <a:avLst/>
          </a:prstGeom>
          <a:noFill/>
          <a:ln/>
        </p:spPr>
        <p:txBody>
          <a:bodyPr wrap="square" lIns="0" tIns="0" rIns="0" bIns="0" rtlCol="0" anchor="t"/>
          <a:lstStyle/>
          <a:p>
            <a:pPr indent="0" marL="0">
              <a:buNone/>
            </a:pPr>
            <a:r>
              <a:rPr lang="en-US" sz="1400" dirty="0">
                <a:solidFill>
                  <a:schemeClr val="bg2"/>
                </a:solidFill>
              </a:rPr>
              <a:t>Only 8% of rows arrive</a:t>
            </a:r>
            <a:endParaRPr lang="en-US" sz="1400" dirty="0"/>
          </a:p>
        </p:txBody>
      </p:sp>
      <p:sp>
        <p:nvSpPr>
          <p:cNvPr id="32" name="volume_drop caught by"/>
          <p:cNvSpPr txBox="1"/>
          <p:nvPr/>
        </p:nvSpPr>
        <p:spPr>
          <a:xfrm>
            <a:off x="5120640" y="3977640"/>
            <a:ext cx="2651760" cy="274320"/>
          </a:xfrm>
          <a:prstGeom prst="rect">
            <a:avLst/>
          </a:prstGeom>
          <a:noFill/>
          <a:ln/>
        </p:spPr>
        <p:txBody>
          <a:bodyPr wrap="square" lIns="0" tIns="0" rIns="0" bIns="0" rtlCol="0" anchor="t"/>
          <a:lstStyle/>
          <a:p>
            <a:pPr indent="0" marL="0">
              <a:buNone/>
            </a:pPr>
            <a:r>
              <a:rPr lang="en-US" sz="1200" b="1" dirty="0">
                <a:solidFill>
                  <a:schemeClr val="accent6"/>
                </a:solidFill>
              </a:rPr>
              <a:t>Observability: robust z</a:t>
            </a:r>
            <a:endParaRPr lang="en-US" sz="1200" dirty="0"/>
          </a:p>
        </p:txBody>
      </p:sp>
      <p:sp>
        <p:nvSpPr>
          <p:cNvPr id="33" name="Mode card outlier_amount"/>
          <p:cNvSpPr/>
          <p:nvPr/>
        </p:nvSpPr>
        <p:spPr>
          <a:xfrm>
            <a:off x="8046720" y="3017520"/>
            <a:ext cx="3566160" cy="1417320"/>
          </a:xfrm>
          <a:prstGeom prst="roundRect">
            <a:avLst>
              <a:gd name="adj" fmla="val 7742"/>
            </a:avLst>
          </a:prstGeom>
          <a:solidFill>
            <a:schemeClr val="tx2"/>
          </a:solidFill>
          <a:ln w="12700">
            <a:solidFill>
              <a:schemeClr val="accent5"/>
            </a:solidFill>
            <a:prstDash val="solid"/>
          </a:ln>
        </p:spPr>
      </p:sp>
      <p:sp>
        <p:nvSpPr>
          <p:cNvPr id="34" name="Number 6"/>
          <p:cNvSpPr/>
          <p:nvPr/>
        </p:nvSpPr>
        <p:spPr>
          <a:xfrm>
            <a:off x="8229600" y="3200400"/>
            <a:ext cx="457200" cy="457200"/>
          </a:xfrm>
          <a:prstGeom prst="ellipse">
            <a:avLst/>
          </a:prstGeom>
          <a:solidFill>
            <a:srgbClr val="5B8CFF"/>
          </a:solidFill>
          <a:ln w="12700">
            <a:solidFill>
              <a:srgbClr val="5B8CFF"/>
            </a:solidFill>
            <a:prstDash val="solid"/>
          </a:ln>
        </p:spPr>
      </p:sp>
      <p:sp>
        <p:nvSpPr>
          <p:cNvPr id="35" name="Number label 6"/>
          <p:cNvSpPr txBox="1"/>
          <p:nvPr/>
        </p:nvSpPr>
        <p:spPr>
          <a:xfrm>
            <a:off x="8229600" y="32004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36" name="outlier_amount"/>
          <p:cNvSpPr txBox="1"/>
          <p:nvPr/>
        </p:nvSpPr>
        <p:spPr>
          <a:xfrm>
            <a:off x="8869680" y="3154680"/>
            <a:ext cx="2651760" cy="365760"/>
          </a:xfrm>
          <a:prstGeom prst="rect">
            <a:avLst/>
          </a:prstGeom>
          <a:noFill/>
          <a:ln/>
        </p:spPr>
        <p:txBody>
          <a:bodyPr wrap="square" lIns="0" tIns="0" rIns="0" bIns="0" rtlCol="0" anchor="t"/>
          <a:lstStyle/>
          <a:p>
            <a:pPr indent="0" marL="0">
              <a:buNone/>
            </a:pPr>
            <a:r>
              <a:rPr lang="en-US" sz="1800" b="1" dirty="0">
                <a:solidFill>
                  <a:schemeClr val="bg1"/>
                </a:solidFill>
              </a:rPr>
              <a:t>outlier_amount</a:t>
            </a:r>
            <a:endParaRPr lang="en-US" sz="1800" dirty="0"/>
          </a:p>
        </p:txBody>
      </p:sp>
      <p:sp>
        <p:nvSpPr>
          <p:cNvPr id="37" name="outlier_amount detail"/>
          <p:cNvSpPr txBox="1"/>
          <p:nvPr/>
        </p:nvSpPr>
        <p:spPr>
          <a:xfrm>
            <a:off x="8869680" y="3566160"/>
            <a:ext cx="2651760" cy="365760"/>
          </a:xfrm>
          <a:prstGeom prst="rect">
            <a:avLst/>
          </a:prstGeom>
          <a:noFill/>
          <a:ln/>
        </p:spPr>
        <p:txBody>
          <a:bodyPr wrap="square" lIns="0" tIns="0" rIns="0" bIns="0" rtlCol="0" anchor="t"/>
          <a:lstStyle/>
          <a:p>
            <a:pPr indent="0" marL="0">
              <a:buNone/>
            </a:pPr>
            <a:r>
              <a:rPr lang="en-US" sz="1400" dirty="0">
                <a:solidFill>
                  <a:schemeClr val="bg2"/>
                </a:solidFill>
              </a:rPr>
              <a:t>5% of amounts multiplied by 400</a:t>
            </a:r>
            <a:endParaRPr lang="en-US" sz="1400" dirty="0"/>
          </a:p>
        </p:txBody>
      </p:sp>
      <p:sp>
        <p:nvSpPr>
          <p:cNvPr id="38" name="outlier_amount caught by"/>
          <p:cNvSpPr txBox="1"/>
          <p:nvPr/>
        </p:nvSpPr>
        <p:spPr>
          <a:xfrm>
            <a:off x="8869680" y="3977640"/>
            <a:ext cx="2651760" cy="274320"/>
          </a:xfrm>
          <a:prstGeom prst="rect">
            <a:avLst/>
          </a:prstGeom>
          <a:noFill/>
          <a:ln/>
        </p:spPr>
        <p:txBody>
          <a:bodyPr wrap="square" lIns="0" tIns="0" rIns="0" bIns="0" rtlCol="0" anchor="t"/>
          <a:lstStyle/>
          <a:p>
            <a:pPr indent="0" marL="0">
              <a:buNone/>
            </a:pPr>
            <a:r>
              <a:rPr lang="en-US" sz="1200" b="1" dirty="0">
                <a:solidFill>
                  <a:schemeClr val="accent6"/>
                </a:solidFill>
              </a:rPr>
              <a:t>Contract: range</a:t>
            </a:r>
            <a:endParaRPr lang="en-US" sz="1200" dirty="0"/>
          </a:p>
        </p:txBody>
      </p:sp>
      <p:sp>
        <p:nvSpPr>
          <p:cNvPr id="39" name="Mode card stale_data"/>
          <p:cNvSpPr/>
          <p:nvPr/>
        </p:nvSpPr>
        <p:spPr>
          <a:xfrm>
            <a:off x="548640" y="4617720"/>
            <a:ext cx="3566160" cy="1417320"/>
          </a:xfrm>
          <a:prstGeom prst="roundRect">
            <a:avLst>
              <a:gd name="adj" fmla="val 7742"/>
            </a:avLst>
          </a:prstGeom>
          <a:solidFill>
            <a:schemeClr val="tx2"/>
          </a:solidFill>
          <a:ln w="12700">
            <a:solidFill>
              <a:schemeClr val="accent5"/>
            </a:solidFill>
            <a:prstDash val="solid"/>
          </a:ln>
        </p:spPr>
      </p:sp>
      <p:sp>
        <p:nvSpPr>
          <p:cNvPr id="40" name="Number 7"/>
          <p:cNvSpPr/>
          <p:nvPr/>
        </p:nvSpPr>
        <p:spPr>
          <a:xfrm>
            <a:off x="731520" y="4800600"/>
            <a:ext cx="457200" cy="457200"/>
          </a:xfrm>
          <a:prstGeom prst="ellipse">
            <a:avLst/>
          </a:prstGeom>
          <a:solidFill>
            <a:srgbClr val="F5B942"/>
          </a:solidFill>
          <a:ln w="12700">
            <a:solidFill>
              <a:srgbClr val="F5B942"/>
            </a:solidFill>
            <a:prstDash val="solid"/>
          </a:ln>
        </p:spPr>
      </p:sp>
      <p:sp>
        <p:nvSpPr>
          <p:cNvPr id="41" name="Number label 7"/>
          <p:cNvSpPr txBox="1"/>
          <p:nvPr/>
        </p:nvSpPr>
        <p:spPr>
          <a:xfrm>
            <a:off x="731520" y="48006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7</a:t>
            </a:r>
            <a:endParaRPr lang="en-US" sz="1600" dirty="0"/>
          </a:p>
        </p:txBody>
      </p:sp>
      <p:sp>
        <p:nvSpPr>
          <p:cNvPr id="42" name="stale_data"/>
          <p:cNvSpPr txBox="1"/>
          <p:nvPr/>
        </p:nvSpPr>
        <p:spPr>
          <a:xfrm>
            <a:off x="1371600" y="4754880"/>
            <a:ext cx="2651760" cy="365760"/>
          </a:xfrm>
          <a:prstGeom prst="rect">
            <a:avLst/>
          </a:prstGeom>
          <a:noFill/>
          <a:ln/>
        </p:spPr>
        <p:txBody>
          <a:bodyPr wrap="square" lIns="0" tIns="0" rIns="0" bIns="0" rtlCol="0" anchor="t"/>
          <a:lstStyle/>
          <a:p>
            <a:pPr indent="0" marL="0">
              <a:buNone/>
            </a:pPr>
            <a:r>
              <a:rPr lang="en-US" sz="1800" b="1" dirty="0">
                <a:solidFill>
                  <a:schemeClr val="bg1"/>
                </a:solidFill>
              </a:rPr>
              <a:t>stale_data</a:t>
            </a:r>
            <a:endParaRPr lang="en-US" sz="1800" dirty="0"/>
          </a:p>
        </p:txBody>
      </p:sp>
      <p:sp>
        <p:nvSpPr>
          <p:cNvPr id="43" name="stale_data detail"/>
          <p:cNvSpPr txBox="1"/>
          <p:nvPr/>
        </p:nvSpPr>
        <p:spPr>
          <a:xfrm>
            <a:off x="1371600" y="5166360"/>
            <a:ext cx="2651760" cy="365760"/>
          </a:xfrm>
          <a:prstGeom prst="rect">
            <a:avLst/>
          </a:prstGeom>
          <a:noFill/>
          <a:ln/>
        </p:spPr>
        <p:txBody>
          <a:bodyPr wrap="square" lIns="0" tIns="0" rIns="0" bIns="0" rtlCol="0" anchor="t"/>
          <a:lstStyle/>
          <a:p>
            <a:pPr indent="0" marL="0">
              <a:buNone/>
            </a:pPr>
            <a:r>
              <a:rPr lang="en-US" sz="1400" dirty="0">
                <a:solidFill>
                  <a:schemeClr val="bg2"/>
                </a:solidFill>
              </a:rPr>
              <a:t>Timestamps shifted 6 hours</a:t>
            </a:r>
            <a:endParaRPr lang="en-US" sz="1400" dirty="0"/>
          </a:p>
        </p:txBody>
      </p:sp>
      <p:sp>
        <p:nvSpPr>
          <p:cNvPr id="44" name="stale_data caught by"/>
          <p:cNvSpPr txBox="1"/>
          <p:nvPr/>
        </p:nvSpPr>
        <p:spPr>
          <a:xfrm>
            <a:off x="1371600" y="5577840"/>
            <a:ext cx="2651760" cy="274320"/>
          </a:xfrm>
          <a:prstGeom prst="rect">
            <a:avLst/>
          </a:prstGeom>
          <a:noFill/>
          <a:ln/>
        </p:spPr>
        <p:txBody>
          <a:bodyPr wrap="square" lIns="0" tIns="0" rIns="0" bIns="0" rtlCol="0" anchor="t"/>
          <a:lstStyle/>
          <a:p>
            <a:pPr indent="0" marL="0">
              <a:buNone/>
            </a:pPr>
            <a:r>
              <a:rPr lang="en-US" sz="1200" b="1" dirty="0">
                <a:solidFill>
                  <a:schemeClr val="accent6"/>
                </a:solidFill>
              </a:rPr>
              <a:t>Freshness SLA</a:t>
            </a:r>
            <a:endParaRPr lang="en-US" sz="1200" dirty="0"/>
          </a:p>
        </p:txBody>
      </p:sp>
      <p:sp>
        <p:nvSpPr>
          <p:cNvPr id="45" name="Mode card format_drift"/>
          <p:cNvSpPr/>
          <p:nvPr/>
        </p:nvSpPr>
        <p:spPr>
          <a:xfrm>
            <a:off x="4297680" y="4617720"/>
            <a:ext cx="3566160" cy="1417320"/>
          </a:xfrm>
          <a:prstGeom prst="roundRect">
            <a:avLst>
              <a:gd name="adj" fmla="val 7742"/>
            </a:avLst>
          </a:prstGeom>
          <a:solidFill>
            <a:schemeClr val="tx2"/>
          </a:solidFill>
          <a:ln w="12700">
            <a:solidFill>
              <a:schemeClr val="accent5"/>
            </a:solidFill>
            <a:prstDash val="solid"/>
          </a:ln>
        </p:spPr>
      </p:sp>
      <p:sp>
        <p:nvSpPr>
          <p:cNvPr id="46" name="Number 8"/>
          <p:cNvSpPr/>
          <p:nvPr/>
        </p:nvSpPr>
        <p:spPr>
          <a:xfrm>
            <a:off x="4480560" y="4800600"/>
            <a:ext cx="457200" cy="457200"/>
          </a:xfrm>
          <a:prstGeom prst="ellipse">
            <a:avLst/>
          </a:prstGeom>
          <a:solidFill>
            <a:srgbClr val="2DD4A8"/>
          </a:solidFill>
          <a:ln w="12700">
            <a:solidFill>
              <a:srgbClr val="2DD4A8"/>
            </a:solidFill>
            <a:prstDash val="solid"/>
          </a:ln>
        </p:spPr>
      </p:sp>
      <p:sp>
        <p:nvSpPr>
          <p:cNvPr id="47" name="Number label 8"/>
          <p:cNvSpPr txBox="1"/>
          <p:nvPr/>
        </p:nvSpPr>
        <p:spPr>
          <a:xfrm>
            <a:off x="4480560" y="48006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8</a:t>
            </a:r>
            <a:endParaRPr lang="en-US" sz="1600" dirty="0"/>
          </a:p>
        </p:txBody>
      </p:sp>
      <p:sp>
        <p:nvSpPr>
          <p:cNvPr id="48" name="format_drift"/>
          <p:cNvSpPr txBox="1"/>
          <p:nvPr/>
        </p:nvSpPr>
        <p:spPr>
          <a:xfrm>
            <a:off x="5120640" y="4754880"/>
            <a:ext cx="2651760" cy="365760"/>
          </a:xfrm>
          <a:prstGeom prst="rect">
            <a:avLst/>
          </a:prstGeom>
          <a:noFill/>
          <a:ln/>
        </p:spPr>
        <p:txBody>
          <a:bodyPr wrap="square" lIns="0" tIns="0" rIns="0" bIns="0" rtlCol="0" anchor="t"/>
          <a:lstStyle/>
          <a:p>
            <a:pPr indent="0" marL="0">
              <a:buNone/>
            </a:pPr>
            <a:r>
              <a:rPr lang="en-US" sz="1800" b="1" dirty="0">
                <a:solidFill>
                  <a:schemeClr val="bg1"/>
                </a:solidFill>
              </a:rPr>
              <a:t>format_drift</a:t>
            </a:r>
            <a:endParaRPr lang="en-US" sz="1800" dirty="0"/>
          </a:p>
        </p:txBody>
      </p:sp>
      <p:sp>
        <p:nvSpPr>
          <p:cNvPr id="49" name="format_drift detail"/>
          <p:cNvSpPr txBox="1"/>
          <p:nvPr/>
        </p:nvSpPr>
        <p:spPr>
          <a:xfrm>
            <a:off x="5120640" y="5166360"/>
            <a:ext cx="2651760" cy="365760"/>
          </a:xfrm>
          <a:prstGeom prst="rect">
            <a:avLst/>
          </a:prstGeom>
          <a:noFill/>
          <a:ln/>
        </p:spPr>
        <p:txBody>
          <a:bodyPr wrap="square" lIns="0" tIns="0" rIns="0" bIns="0" rtlCol="0" anchor="t"/>
          <a:lstStyle/>
          <a:p>
            <a:pPr indent="0" marL="0">
              <a:buNone/>
            </a:pPr>
            <a:r>
              <a:rPr lang="en-US" sz="1400" dirty="0">
                <a:solidFill>
                  <a:schemeClr val="bg2"/>
                </a:solidFill>
              </a:rPr>
              <a:t>₹1,234.50 and lowercase cities</a:t>
            </a:r>
            <a:endParaRPr lang="en-US" sz="1400" dirty="0"/>
          </a:p>
        </p:txBody>
      </p:sp>
      <p:sp>
        <p:nvSpPr>
          <p:cNvPr id="50" name="format_drift caught by"/>
          <p:cNvSpPr txBox="1"/>
          <p:nvPr/>
        </p:nvSpPr>
        <p:spPr>
          <a:xfrm>
            <a:off x="5120640" y="5577840"/>
            <a:ext cx="2651760" cy="274320"/>
          </a:xfrm>
          <a:prstGeom prst="rect">
            <a:avLst/>
          </a:prstGeom>
          <a:noFill/>
          <a:ln/>
        </p:spPr>
        <p:txBody>
          <a:bodyPr wrap="square" lIns="0" tIns="0" rIns="0" bIns="0" rtlCol="0" anchor="t"/>
          <a:lstStyle/>
          <a:p>
            <a:pPr indent="0" marL="0">
              <a:buNone/>
            </a:pPr>
            <a:r>
              <a:rPr lang="en-US" sz="1200" b="1" dirty="0">
                <a:solidFill>
                  <a:schemeClr val="accent6"/>
                </a:solidFill>
              </a:rPr>
              <a:t>Auto-healed, then flagged</a:t>
            </a:r>
            <a:endParaRPr lang="en-US" sz="1200" dirty="0"/>
          </a:p>
        </p:txBody>
      </p:sp>
      <p:sp>
        <p:nvSpPr>
          <p:cNvPr id="51" name="Mode card silent_drift"/>
          <p:cNvSpPr/>
          <p:nvPr/>
        </p:nvSpPr>
        <p:spPr>
          <a:xfrm>
            <a:off x="8046720" y="4617720"/>
            <a:ext cx="3566160" cy="1417320"/>
          </a:xfrm>
          <a:prstGeom prst="roundRect">
            <a:avLst>
              <a:gd name="adj" fmla="val 7742"/>
            </a:avLst>
          </a:prstGeom>
          <a:solidFill>
            <a:schemeClr val="tx2"/>
          </a:solidFill>
          <a:ln w="25400">
            <a:solidFill>
              <a:schemeClr val="accent3"/>
            </a:solidFill>
            <a:prstDash val="solid"/>
          </a:ln>
        </p:spPr>
      </p:sp>
      <p:sp>
        <p:nvSpPr>
          <p:cNvPr id="52" name="Number 9"/>
          <p:cNvSpPr/>
          <p:nvPr/>
        </p:nvSpPr>
        <p:spPr>
          <a:xfrm>
            <a:off x="8229600" y="4800600"/>
            <a:ext cx="457200" cy="457200"/>
          </a:xfrm>
          <a:prstGeom prst="ellipse">
            <a:avLst/>
          </a:prstGeom>
          <a:solidFill>
            <a:srgbClr val="FF5C7A"/>
          </a:solidFill>
          <a:ln w="12700">
            <a:solidFill>
              <a:srgbClr val="FF5C7A"/>
            </a:solidFill>
            <a:prstDash val="solid"/>
          </a:ln>
        </p:spPr>
      </p:sp>
      <p:sp>
        <p:nvSpPr>
          <p:cNvPr id="53" name="Number label 9"/>
          <p:cNvSpPr txBox="1"/>
          <p:nvPr/>
        </p:nvSpPr>
        <p:spPr>
          <a:xfrm>
            <a:off x="8229600" y="48006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9</a:t>
            </a:r>
            <a:endParaRPr lang="en-US" sz="1600" dirty="0"/>
          </a:p>
        </p:txBody>
      </p:sp>
      <p:sp>
        <p:nvSpPr>
          <p:cNvPr id="54" name="silent_drift"/>
          <p:cNvSpPr txBox="1"/>
          <p:nvPr/>
        </p:nvSpPr>
        <p:spPr>
          <a:xfrm>
            <a:off x="8869680" y="4754880"/>
            <a:ext cx="2651760" cy="365760"/>
          </a:xfrm>
          <a:prstGeom prst="rect">
            <a:avLst/>
          </a:prstGeom>
          <a:noFill/>
          <a:ln/>
        </p:spPr>
        <p:txBody>
          <a:bodyPr wrap="square" lIns="0" tIns="0" rIns="0" bIns="0" rtlCol="0" anchor="t"/>
          <a:lstStyle/>
          <a:p>
            <a:pPr indent="0" marL="0">
              <a:buNone/>
            </a:pPr>
            <a:r>
              <a:rPr lang="en-US" sz="1800" b="1" dirty="0">
                <a:solidFill>
                  <a:schemeClr val="bg1"/>
                </a:solidFill>
              </a:rPr>
              <a:t>silent_drift</a:t>
            </a:r>
            <a:endParaRPr lang="en-US" sz="1800" dirty="0"/>
          </a:p>
        </p:txBody>
      </p:sp>
      <p:sp>
        <p:nvSpPr>
          <p:cNvPr id="55" name="silent_drift detail"/>
          <p:cNvSpPr txBox="1"/>
          <p:nvPr/>
        </p:nvSpPr>
        <p:spPr>
          <a:xfrm>
            <a:off x="8869680" y="5166360"/>
            <a:ext cx="2651760" cy="365760"/>
          </a:xfrm>
          <a:prstGeom prst="rect">
            <a:avLst/>
          </a:prstGeom>
          <a:noFill/>
          <a:ln/>
        </p:spPr>
        <p:txBody>
          <a:bodyPr wrap="square" lIns="0" tIns="0" rIns="0" bIns="0" rtlCol="0" anchor="t"/>
          <a:lstStyle/>
          <a:p>
            <a:pPr indent="0" marL="0">
              <a:buNone/>
            </a:pPr>
            <a:r>
              <a:rPr lang="en-US" sz="1400" dirty="0">
                <a:solidFill>
                  <a:schemeClr val="bg2"/>
                </a:solidFill>
              </a:rPr>
              <a:t>All amounts x1.8, every row valid</a:t>
            </a:r>
            <a:endParaRPr lang="en-US" sz="1400" dirty="0"/>
          </a:p>
        </p:txBody>
      </p:sp>
      <p:sp>
        <p:nvSpPr>
          <p:cNvPr id="56" name="silent_drift caught by"/>
          <p:cNvSpPr txBox="1"/>
          <p:nvPr/>
        </p:nvSpPr>
        <p:spPr>
          <a:xfrm>
            <a:off x="8869680" y="5577840"/>
            <a:ext cx="2651760" cy="274320"/>
          </a:xfrm>
          <a:prstGeom prst="rect">
            <a:avLst/>
          </a:prstGeom>
          <a:noFill/>
          <a:ln/>
        </p:spPr>
        <p:txBody>
          <a:bodyPr wrap="square" lIns="0" tIns="0" rIns="0" bIns="0" rtlCol="0" anchor="t"/>
          <a:lstStyle/>
          <a:p>
            <a:pPr indent="0" marL="0">
              <a:buNone/>
            </a:pPr>
            <a:r>
              <a:rPr lang="en-US" sz="1200" b="1" dirty="0">
                <a:solidFill>
                  <a:schemeClr val="accent6"/>
                </a:solidFill>
              </a:rPr>
              <a:t>Observability: PSI</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0C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Every row valid. The data is still wrong</a:t>
            </a:r>
            <a:endParaRPr lang="en-US" sz="3600" dirty="0"/>
          </a:p>
        </p:txBody>
      </p:sp>
      <p:graphicFrame>
        <p:nvGraphicFramePr>
          <p:cNvPr id="3" name="Chart 0" descr=""/>
          <p:cNvGraphicFramePr/>
          <p:nvPr/>
        </p:nvGraphicFramePr>
        <p:xfrm>
          <a:off x="548640" y="1417320"/>
          <a:ext cx="7223760" cy="4480560"/>
        </p:xfrm>
        <a:graphic xmlns:a="http://schemas.openxmlformats.org/drawingml/2006/main">
          <a:graphicData uri="http://schemas.openxmlformats.org/drawingml/2006/chart">
            <c:chart xmlns:c="http://schemas.openxmlformats.org/drawingml/2006/chart" r:id="rId1"/>
          </a:graphicData>
        </a:graphic>
      </p:graphicFrame>
      <p:sp>
        <p:nvSpPr>
          <p:cNvPr id="4" name="Stat card 1"/>
          <p:cNvSpPr/>
          <p:nvPr/>
        </p:nvSpPr>
        <p:spPr>
          <a:xfrm>
            <a:off x="8138160" y="1417320"/>
            <a:ext cx="3474720" cy="1371600"/>
          </a:xfrm>
          <a:prstGeom prst="roundRect">
            <a:avLst>
              <a:gd name="adj" fmla="val 8000"/>
            </a:avLst>
          </a:prstGeom>
          <a:solidFill>
            <a:schemeClr val="tx2"/>
          </a:solidFill>
          <a:ln w="12700">
            <a:solidFill>
              <a:schemeClr val="accent5"/>
            </a:solidFill>
            <a:prstDash val="solid"/>
          </a:ln>
        </p:spPr>
      </p:sp>
      <p:sp>
        <p:nvSpPr>
          <p:cNvPr id="5" name="Stat 1"/>
          <p:cNvSpPr txBox="1"/>
          <p:nvPr/>
        </p:nvSpPr>
        <p:spPr>
          <a:xfrm>
            <a:off x="8366760" y="1554480"/>
            <a:ext cx="3108960" cy="640080"/>
          </a:xfrm>
          <a:prstGeom prst="rect">
            <a:avLst/>
          </a:prstGeom>
          <a:noFill/>
          <a:ln/>
        </p:spPr>
        <p:txBody>
          <a:bodyPr wrap="square" lIns="0" tIns="0" rIns="0" bIns="0" rtlCol="0" anchor="t"/>
          <a:lstStyle/>
          <a:p>
            <a:pPr indent="0" marL="0">
              <a:buNone/>
            </a:pPr>
            <a:r>
              <a:rPr lang="en-US" sz="4000" b="1" dirty="0">
                <a:solidFill>
                  <a:schemeClr val="accent2"/>
                </a:solidFill>
              </a:rPr>
              <a:t>100%</a:t>
            </a:r>
            <a:endParaRPr lang="en-US" sz="4000" dirty="0"/>
          </a:p>
        </p:txBody>
      </p:sp>
      <p:sp>
        <p:nvSpPr>
          <p:cNvPr id="6" name="Stat label 1"/>
          <p:cNvSpPr txBox="1"/>
          <p:nvPr/>
        </p:nvSpPr>
        <p:spPr>
          <a:xfrm>
            <a:off x="8366760" y="2194560"/>
            <a:ext cx="3108960" cy="548640"/>
          </a:xfrm>
          <a:prstGeom prst="rect">
            <a:avLst/>
          </a:prstGeom>
          <a:noFill/>
          <a:ln/>
        </p:spPr>
        <p:txBody>
          <a:bodyPr wrap="square" lIns="0" tIns="0" rIns="0" bIns="0" rtlCol="0" anchor="t"/>
          <a:lstStyle/>
          <a:p>
            <a:pPr indent="0" marL="0">
              <a:buNone/>
            </a:pPr>
            <a:r>
              <a:rPr lang="en-US" sz="1200" dirty="0">
                <a:solidFill>
                  <a:schemeClr val="accent6"/>
                </a:solidFill>
              </a:rPr>
              <a:t>of rows passed the contract in run 27</a:t>
            </a:r>
            <a:endParaRPr lang="en-US" sz="1200" dirty="0"/>
          </a:p>
        </p:txBody>
      </p:sp>
      <p:sp>
        <p:nvSpPr>
          <p:cNvPr id="7" name="Stat card 2"/>
          <p:cNvSpPr/>
          <p:nvPr/>
        </p:nvSpPr>
        <p:spPr>
          <a:xfrm>
            <a:off x="8138160" y="2971800"/>
            <a:ext cx="3474720" cy="1371600"/>
          </a:xfrm>
          <a:prstGeom prst="roundRect">
            <a:avLst>
              <a:gd name="adj" fmla="val 8000"/>
            </a:avLst>
          </a:prstGeom>
          <a:solidFill>
            <a:schemeClr val="tx2"/>
          </a:solidFill>
          <a:ln w="12700">
            <a:solidFill>
              <a:schemeClr val="accent5"/>
            </a:solidFill>
            <a:prstDash val="solid"/>
          </a:ln>
        </p:spPr>
      </p:sp>
      <p:sp>
        <p:nvSpPr>
          <p:cNvPr id="8" name="Stat 2"/>
          <p:cNvSpPr txBox="1"/>
          <p:nvPr/>
        </p:nvSpPr>
        <p:spPr>
          <a:xfrm>
            <a:off x="8366760" y="3108960"/>
            <a:ext cx="3108960" cy="640080"/>
          </a:xfrm>
          <a:prstGeom prst="rect">
            <a:avLst/>
          </a:prstGeom>
          <a:noFill/>
          <a:ln/>
        </p:spPr>
        <p:txBody>
          <a:bodyPr wrap="square" lIns="0" tIns="0" rIns="0" bIns="0" rtlCol="0" anchor="t"/>
          <a:lstStyle/>
          <a:p>
            <a:pPr indent="0" marL="0">
              <a:buNone/>
            </a:pPr>
            <a:r>
              <a:rPr lang="en-US" sz="4000" b="1" dirty="0">
                <a:solidFill>
                  <a:schemeClr val="accent3"/>
                </a:solidFill>
              </a:rPr>
              <a:t>1.73x</a:t>
            </a:r>
            <a:endParaRPr lang="en-US" sz="4000" dirty="0"/>
          </a:p>
        </p:txBody>
      </p:sp>
      <p:sp>
        <p:nvSpPr>
          <p:cNvPr id="9" name="Stat label 2"/>
          <p:cNvSpPr txBox="1"/>
          <p:nvPr/>
        </p:nvSpPr>
        <p:spPr>
          <a:xfrm>
            <a:off x="8366760" y="3749040"/>
            <a:ext cx="3108960" cy="548640"/>
          </a:xfrm>
          <a:prstGeom prst="rect">
            <a:avLst/>
          </a:prstGeom>
          <a:noFill/>
          <a:ln/>
        </p:spPr>
        <p:txBody>
          <a:bodyPr wrap="square" lIns="0" tIns="0" rIns="0" bIns="0" rtlCol="0" anchor="t"/>
          <a:lstStyle/>
          <a:p>
            <a:pPr indent="0" marL="0">
              <a:buNone/>
            </a:pPr>
            <a:r>
              <a:rPr lang="en-US" sz="1200" dirty="0">
                <a:solidFill>
                  <a:schemeClr val="accent6"/>
                </a:solidFill>
              </a:rPr>
              <a:t>mean order value: INR 2,324 to 4,019</a:t>
            </a:r>
            <a:endParaRPr lang="en-US" sz="1200" dirty="0"/>
          </a:p>
        </p:txBody>
      </p:sp>
      <p:sp>
        <p:nvSpPr>
          <p:cNvPr id="10" name="Stat card 3"/>
          <p:cNvSpPr/>
          <p:nvPr/>
        </p:nvSpPr>
        <p:spPr>
          <a:xfrm>
            <a:off x="8138160" y="4526280"/>
            <a:ext cx="3474720" cy="1371600"/>
          </a:xfrm>
          <a:prstGeom prst="roundRect">
            <a:avLst>
              <a:gd name="adj" fmla="val 8000"/>
            </a:avLst>
          </a:prstGeom>
          <a:solidFill>
            <a:schemeClr val="tx2"/>
          </a:solidFill>
          <a:ln w="12700">
            <a:solidFill>
              <a:schemeClr val="accent5"/>
            </a:solidFill>
            <a:prstDash val="solid"/>
          </a:ln>
        </p:spPr>
      </p:sp>
      <p:sp>
        <p:nvSpPr>
          <p:cNvPr id="11" name="Stat 3"/>
          <p:cNvSpPr txBox="1"/>
          <p:nvPr/>
        </p:nvSpPr>
        <p:spPr>
          <a:xfrm>
            <a:off x="8366760" y="4663440"/>
            <a:ext cx="3108960" cy="640080"/>
          </a:xfrm>
          <a:prstGeom prst="rect">
            <a:avLst/>
          </a:prstGeom>
          <a:noFill/>
          <a:ln/>
        </p:spPr>
        <p:txBody>
          <a:bodyPr wrap="square" lIns="0" tIns="0" rIns="0" bIns="0" rtlCol="0" anchor="t"/>
          <a:lstStyle/>
          <a:p>
            <a:pPr indent="0" marL="0">
              <a:buNone/>
            </a:pPr>
            <a:r>
              <a:rPr lang="en-US" sz="4000" b="1" dirty="0">
                <a:solidFill>
                  <a:schemeClr val="accent1"/>
                </a:solidFill>
              </a:rPr>
              <a:t>0.48</a:t>
            </a:r>
            <a:endParaRPr lang="en-US" sz="4000" dirty="0"/>
          </a:p>
        </p:txBody>
      </p:sp>
      <p:sp>
        <p:nvSpPr>
          <p:cNvPr id="12" name="Stat label 3"/>
          <p:cNvSpPr txBox="1"/>
          <p:nvPr/>
        </p:nvSpPr>
        <p:spPr>
          <a:xfrm>
            <a:off x="8366760" y="5303520"/>
            <a:ext cx="3108960" cy="548640"/>
          </a:xfrm>
          <a:prstGeom prst="rect">
            <a:avLst/>
          </a:prstGeom>
          <a:noFill/>
          <a:ln/>
        </p:spPr>
        <p:txBody>
          <a:bodyPr wrap="square" lIns="0" tIns="0" rIns="0" bIns="0" rtlCol="0" anchor="t"/>
          <a:lstStyle/>
          <a:p>
            <a:pPr indent="0" marL="0">
              <a:buNone/>
            </a:pPr>
            <a:r>
              <a:rPr lang="en-US" sz="1200" dirty="0">
                <a:solidFill>
                  <a:schemeClr val="accent6"/>
                </a:solidFill>
              </a:rPr>
              <a:t>PSI vs reference, threshold 0.2: only observability sees it</a:t>
            </a:r>
            <a:endParaRPr lang="en-US" sz="1200" dirty="0"/>
          </a:p>
        </p:txBody>
      </p:sp>
      <p:sp>
        <p:nvSpPr>
          <p:cNvPr id="13" name="Chart caption"/>
          <p:cNvSpPr txBox="1"/>
          <p:nvPr/>
        </p:nvSpPr>
        <p:spPr>
          <a:xfrm>
            <a:off x="548640" y="5943600"/>
            <a:ext cx="7315200" cy="365760"/>
          </a:xfrm>
          <a:prstGeom prst="rect">
            <a:avLst/>
          </a:prstGeom>
          <a:noFill/>
          <a:ln/>
        </p:spPr>
        <p:txBody>
          <a:bodyPr wrap="square" lIns="0" tIns="0" rIns="0" bIns="0" rtlCol="0" anchor="t"/>
          <a:lstStyle/>
          <a:p>
            <a:pPr indent="0" marL="0">
              <a:buNone/>
            </a:pPr>
            <a:r>
              <a:rPr lang="en-US" sz="1200" dirty="0">
                <a:solidFill>
                  <a:schemeClr val="accent6"/>
                </a:solidFill>
              </a:rPr>
              <a:t>Run 21 (amber): a few 400x outliers stayed under the contract's global max and still lifted the average. See limits.</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0C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From alerts to one root cause</a:t>
            </a:r>
            <a:endParaRPr lang="en-US" sz="3600" dirty="0"/>
          </a:p>
        </p:txBody>
      </p:sp>
      <p:sp>
        <p:nvSpPr>
          <p:cNvPr id="3" name="RCA card"/>
          <p:cNvSpPr/>
          <p:nvPr/>
        </p:nvSpPr>
        <p:spPr>
          <a:xfrm>
            <a:off x="548640" y="1417320"/>
            <a:ext cx="6766560" cy="4526280"/>
          </a:xfrm>
          <a:prstGeom prst="roundRect">
            <a:avLst>
              <a:gd name="adj" fmla="val 2424"/>
            </a:avLst>
          </a:prstGeom>
          <a:solidFill>
            <a:schemeClr val="tx2"/>
          </a:solidFill>
          <a:ln w="12700">
            <a:solidFill>
              <a:schemeClr val="accent5"/>
            </a:solidFill>
            <a:prstDash val="solid"/>
          </a:ln>
        </p:spPr>
      </p:sp>
      <p:sp>
        <p:nvSpPr>
          <p:cNvPr id="4" name="RCA severity"/>
          <p:cNvSpPr txBox="1"/>
          <p:nvPr/>
        </p:nvSpPr>
        <p:spPr>
          <a:xfrm>
            <a:off x="822960" y="1600200"/>
            <a:ext cx="6217920" cy="274320"/>
          </a:xfrm>
          <a:prstGeom prst="rect">
            <a:avLst/>
          </a:prstGeom>
          <a:noFill/>
          <a:ln/>
        </p:spPr>
        <p:txBody>
          <a:bodyPr wrap="square" lIns="0" tIns="0" rIns="0" bIns="0" rtlCol="0" anchor="t"/>
          <a:lstStyle/>
          <a:p>
            <a:pPr indent="0" marL="0">
              <a:buNone/>
            </a:pPr>
            <a:r>
              <a:rPr lang="en-US" sz="1200" b="1" dirty="0">
                <a:solidFill>
                  <a:schemeClr val="accent3"/>
                </a:solidFill>
              </a:rPr>
              <a:t>SCHEMA_BREAK  ·  CRITICAL</a:t>
            </a:r>
            <a:endParaRPr lang="en-US" sz="1200" dirty="0"/>
          </a:p>
        </p:txBody>
      </p:sp>
      <p:sp>
        <p:nvSpPr>
          <p:cNvPr id="5" name="RCA headline"/>
          <p:cNvSpPr txBox="1"/>
          <p:nvPr/>
        </p:nvSpPr>
        <p:spPr>
          <a:xfrm>
            <a:off x="822960" y="1920240"/>
            <a:ext cx="6217920" cy="411480"/>
          </a:xfrm>
          <a:prstGeom prst="rect">
            <a:avLst/>
          </a:prstGeom>
          <a:noFill/>
          <a:ln/>
        </p:spPr>
        <p:txBody>
          <a:bodyPr wrap="square" lIns="0" tIns="0" rIns="0" bIns="0" rtlCol="0" anchor="t"/>
          <a:lstStyle/>
          <a:p>
            <a:pPr indent="0" marL="0">
              <a:buNone/>
            </a:pPr>
            <a:r>
              <a:rPr lang="en-US" sz="2000" b="1" dirty="0">
                <a:solidFill>
                  <a:schemeClr val="bg1"/>
                </a:solidFill>
              </a:rPr>
              <a:t>Required column(s) missing: amount</a:t>
            </a:r>
            <a:endParaRPr lang="en-US" sz="2000" dirty="0"/>
          </a:p>
        </p:txBody>
      </p:sp>
      <p:sp>
        <p:nvSpPr>
          <p:cNvPr id="6" name="Hypotheses label"/>
          <p:cNvSpPr txBox="1"/>
          <p:nvPr/>
        </p:nvSpPr>
        <p:spPr>
          <a:xfrm>
            <a:off x="822960" y="2560320"/>
            <a:ext cx="6217920" cy="274320"/>
          </a:xfrm>
          <a:prstGeom prst="rect">
            <a:avLst/>
          </a:prstGeom>
          <a:noFill/>
          <a:ln/>
        </p:spPr>
        <p:txBody>
          <a:bodyPr wrap="square" lIns="0" tIns="0" rIns="0" bIns="0" rtlCol="0" anchor="t"/>
          <a:lstStyle/>
          <a:p>
            <a:pPr indent="0" marL="0">
              <a:buNone/>
            </a:pPr>
            <a:r>
              <a:rPr lang="en-US" sz="1400" b="1" dirty="0">
                <a:solidFill>
                  <a:schemeClr val="accent6"/>
                </a:solidFill>
              </a:rPr>
              <a:t>Most likely causes</a:t>
            </a:r>
            <a:endParaRPr lang="en-US" sz="1400" dirty="0"/>
          </a:p>
        </p:txBody>
      </p:sp>
      <p:sp>
        <p:nvSpPr>
          <p:cNvPr id="7" name="Bar track 1"/>
          <p:cNvSpPr/>
          <p:nvPr/>
        </p:nvSpPr>
        <p:spPr>
          <a:xfrm>
            <a:off x="822960" y="3273552"/>
            <a:ext cx="5120640" cy="201168"/>
          </a:xfrm>
          <a:prstGeom prst="roundRect">
            <a:avLst>
              <a:gd name="adj" fmla="val 36364"/>
            </a:avLst>
          </a:prstGeom>
          <a:solidFill>
            <a:schemeClr val="accent5"/>
          </a:solidFill>
          <a:ln w="12700">
            <a:solidFill>
              <a:schemeClr val="accent5"/>
            </a:solidFill>
            <a:prstDash val="solid"/>
          </a:ln>
        </p:spPr>
      </p:sp>
      <p:sp>
        <p:nvSpPr>
          <p:cNvPr id="8" name="Bar 1"/>
          <p:cNvSpPr/>
          <p:nvPr/>
        </p:nvSpPr>
        <p:spPr>
          <a:xfrm>
            <a:off x="822960" y="3273552"/>
            <a:ext cx="3840480" cy="201168"/>
          </a:xfrm>
          <a:prstGeom prst="roundRect">
            <a:avLst>
              <a:gd name="adj" fmla="val 36364"/>
            </a:avLst>
          </a:prstGeom>
          <a:solidFill>
            <a:schemeClr val="accent1"/>
          </a:solidFill>
          <a:ln w="12700">
            <a:solidFill>
              <a:schemeClr val="accent1"/>
            </a:solidFill>
            <a:prstDash val="solid"/>
          </a:ln>
        </p:spPr>
      </p:sp>
      <p:sp>
        <p:nvSpPr>
          <p:cNvPr id="9" name="Bar value 1"/>
          <p:cNvSpPr txBox="1"/>
          <p:nvPr/>
        </p:nvSpPr>
        <p:spPr>
          <a:xfrm>
            <a:off x="6080760" y="3200400"/>
            <a:ext cx="1005840" cy="320040"/>
          </a:xfrm>
          <a:prstGeom prst="rect">
            <a:avLst/>
          </a:prstGeom>
          <a:noFill/>
          <a:ln/>
        </p:spPr>
        <p:txBody>
          <a:bodyPr wrap="square" lIns="0" tIns="0" rIns="0" bIns="0" rtlCol="0" anchor="t"/>
          <a:lstStyle/>
          <a:p>
            <a:pPr algn="r" indent="0" marL="0">
              <a:buNone/>
            </a:pPr>
            <a:r>
              <a:rPr lang="en-US" sz="1600" b="1" dirty="0">
                <a:solidFill>
                  <a:schemeClr val="bg1"/>
                </a:solidFill>
              </a:rPr>
              <a:t>75%</a:t>
            </a:r>
            <a:endParaRPr lang="en-US" sz="1600" dirty="0"/>
          </a:p>
        </p:txBody>
      </p:sp>
      <p:sp>
        <p:nvSpPr>
          <p:cNvPr id="10" name="Hypothesis 1"/>
          <p:cNvSpPr txBox="1"/>
          <p:nvPr/>
        </p:nvSpPr>
        <p:spPr>
          <a:xfrm>
            <a:off x="822960" y="2926080"/>
            <a:ext cx="6217920" cy="320040"/>
          </a:xfrm>
          <a:prstGeom prst="rect">
            <a:avLst/>
          </a:prstGeom>
          <a:noFill/>
          <a:ln/>
        </p:spPr>
        <p:txBody>
          <a:bodyPr wrap="square" lIns="0" tIns="0" rIns="0" bIns="0" rtlCol="0" anchor="t"/>
          <a:lstStyle/>
          <a:p>
            <a:pPr indent="0" marL="0">
              <a:buNone/>
            </a:pPr>
            <a:r>
              <a:rPr lang="en-US" sz="1400" dirty="0">
                <a:solidFill>
                  <a:schemeClr val="bg2"/>
                </a:solidFill>
              </a:rPr>
              <a:t>Upstream renamed amount to order_amount without a contract version bump</a:t>
            </a:r>
            <a:endParaRPr lang="en-US" sz="1400" dirty="0"/>
          </a:p>
        </p:txBody>
      </p:sp>
      <p:sp>
        <p:nvSpPr>
          <p:cNvPr id="11" name="Bar track 2"/>
          <p:cNvSpPr/>
          <p:nvPr/>
        </p:nvSpPr>
        <p:spPr>
          <a:xfrm>
            <a:off x="822960" y="4142232"/>
            <a:ext cx="5120640" cy="201168"/>
          </a:xfrm>
          <a:prstGeom prst="roundRect">
            <a:avLst>
              <a:gd name="adj" fmla="val 36364"/>
            </a:avLst>
          </a:prstGeom>
          <a:solidFill>
            <a:schemeClr val="accent5"/>
          </a:solidFill>
          <a:ln w="12700">
            <a:solidFill>
              <a:schemeClr val="accent5"/>
            </a:solidFill>
            <a:prstDash val="solid"/>
          </a:ln>
        </p:spPr>
      </p:sp>
      <p:sp>
        <p:nvSpPr>
          <p:cNvPr id="12" name="Bar 2"/>
          <p:cNvSpPr/>
          <p:nvPr/>
        </p:nvSpPr>
        <p:spPr>
          <a:xfrm>
            <a:off x="822960" y="4142232"/>
            <a:ext cx="1280160" cy="201168"/>
          </a:xfrm>
          <a:prstGeom prst="roundRect">
            <a:avLst>
              <a:gd name="adj" fmla="val 36364"/>
            </a:avLst>
          </a:prstGeom>
          <a:solidFill>
            <a:schemeClr val="accent6"/>
          </a:solidFill>
          <a:ln w="12700">
            <a:solidFill>
              <a:schemeClr val="accent1"/>
            </a:solidFill>
            <a:prstDash val="solid"/>
          </a:ln>
        </p:spPr>
      </p:sp>
      <p:sp>
        <p:nvSpPr>
          <p:cNvPr id="13" name="Bar value 2"/>
          <p:cNvSpPr txBox="1"/>
          <p:nvPr/>
        </p:nvSpPr>
        <p:spPr>
          <a:xfrm>
            <a:off x="6080760" y="4069080"/>
            <a:ext cx="1005840" cy="320040"/>
          </a:xfrm>
          <a:prstGeom prst="rect">
            <a:avLst/>
          </a:prstGeom>
          <a:noFill/>
          <a:ln/>
        </p:spPr>
        <p:txBody>
          <a:bodyPr wrap="square" lIns="0" tIns="0" rIns="0" bIns="0" rtlCol="0" anchor="t"/>
          <a:lstStyle/>
          <a:p>
            <a:pPr algn="r" indent="0" marL="0">
              <a:buNone/>
            </a:pPr>
            <a:r>
              <a:rPr lang="en-US" sz="1600" b="1" dirty="0">
                <a:solidFill>
                  <a:schemeClr val="bg1"/>
                </a:solidFill>
              </a:rPr>
              <a:t>25%</a:t>
            </a:r>
            <a:endParaRPr lang="en-US" sz="1600" dirty="0"/>
          </a:p>
        </p:txBody>
      </p:sp>
      <p:sp>
        <p:nvSpPr>
          <p:cNvPr id="14" name="Hypothesis 2"/>
          <p:cNvSpPr txBox="1"/>
          <p:nvPr/>
        </p:nvSpPr>
        <p:spPr>
          <a:xfrm>
            <a:off x="822960" y="3794760"/>
            <a:ext cx="6217920" cy="320040"/>
          </a:xfrm>
          <a:prstGeom prst="rect">
            <a:avLst/>
          </a:prstGeom>
          <a:noFill/>
          <a:ln/>
        </p:spPr>
        <p:txBody>
          <a:bodyPr wrap="square" lIns="0" tIns="0" rIns="0" bIns="0" rtlCol="0" anchor="t"/>
          <a:lstStyle/>
          <a:p>
            <a:pPr indent="0" marL="0">
              <a:buNone/>
            </a:pPr>
            <a:r>
              <a:rPr lang="en-US" sz="1400" dirty="0">
                <a:solidFill>
                  <a:schemeClr val="bg2"/>
                </a:solidFill>
              </a:rPr>
              <a:t>Source API or extraction query version changed</a:t>
            </a:r>
            <a:endParaRPr lang="en-US" sz="1400" dirty="0"/>
          </a:p>
        </p:txBody>
      </p:sp>
      <p:sp>
        <p:nvSpPr>
          <p:cNvPr id="15" name="RCA evidence"/>
          <p:cNvSpPr txBox="1"/>
          <p:nvPr/>
        </p:nvSpPr>
        <p:spPr>
          <a:xfrm>
            <a:off x="822960" y="4754880"/>
            <a:ext cx="6217920" cy="548640"/>
          </a:xfrm>
          <a:prstGeom prst="rect">
            <a:avLst/>
          </a:prstGeom>
          <a:noFill/>
          <a:ln/>
        </p:spPr>
        <p:txBody>
          <a:bodyPr wrap="square" lIns="0" tIns="0" rIns="0" bIns="0" rtlCol="0" anchor="t"/>
          <a:lstStyle/>
          <a:p>
            <a:pPr indent="0" marL="0">
              <a:buNone/>
            </a:pPr>
            <a:r>
              <a:rPr lang="en-US" sz="1400" dirty="0">
                <a:solidFill>
                  <a:schemeClr val="accent6"/>
                </a:solidFill>
              </a:rPr>
              <a:t>Evidence: a column vanished while a new one appeared in the same batch.</a:t>
            </a:r>
            <a:endParaRPr lang="en-US" sz="1400" dirty="0"/>
          </a:p>
        </p:txBody>
      </p:sp>
      <p:sp>
        <p:nvSpPr>
          <p:cNvPr id="16" name="RCA symptoms"/>
          <p:cNvSpPr txBox="1"/>
          <p:nvPr/>
        </p:nvSpPr>
        <p:spPr>
          <a:xfrm>
            <a:off x="822960" y="5257800"/>
            <a:ext cx="6217920" cy="457200"/>
          </a:xfrm>
          <a:prstGeom prst="rect">
            <a:avLst/>
          </a:prstGeom>
          <a:noFill/>
          <a:ln/>
        </p:spPr>
        <p:txBody>
          <a:bodyPr wrap="square" lIns="0" tIns="0" rIns="0" bIns="0" rtlCol="0" anchor="t"/>
          <a:lstStyle/>
          <a:p>
            <a:pPr indent="0" marL="0">
              <a:buNone/>
            </a:pPr>
            <a:r>
              <a:rPr lang="en-US" sz="1400" dirty="0">
                <a:solidFill>
                  <a:schemeClr val="accent6"/>
                </a:solidFill>
              </a:rPr>
              <a:t>Symptoms folded in: schema_drift. One alert to act on instead of two.</a:t>
            </a:r>
            <a:endParaRPr lang="en-US" sz="1400" dirty="0"/>
          </a:p>
        </p:txBody>
      </p:sp>
      <p:sp>
        <p:nvSpPr>
          <p:cNvPr id="17" name="Blast card"/>
          <p:cNvSpPr/>
          <p:nvPr/>
        </p:nvSpPr>
        <p:spPr>
          <a:xfrm>
            <a:off x="7589520" y="1417320"/>
            <a:ext cx="4023360" cy="1463040"/>
          </a:xfrm>
          <a:prstGeom prst="roundRect">
            <a:avLst>
              <a:gd name="adj" fmla="val 7500"/>
            </a:avLst>
          </a:prstGeom>
          <a:solidFill>
            <a:schemeClr val="tx2"/>
          </a:solidFill>
          <a:ln w="12700">
            <a:solidFill>
              <a:schemeClr val="accent5"/>
            </a:solidFill>
            <a:prstDash val="solid"/>
          </a:ln>
        </p:spPr>
      </p:sp>
      <p:sp>
        <p:nvSpPr>
          <p:cNvPr id="18" name="Blast label"/>
          <p:cNvSpPr txBox="1"/>
          <p:nvPr/>
        </p:nvSpPr>
        <p:spPr>
          <a:xfrm>
            <a:off x="7818120" y="1554480"/>
            <a:ext cx="3566160" cy="274320"/>
          </a:xfrm>
          <a:prstGeom prst="rect">
            <a:avLst/>
          </a:prstGeom>
          <a:noFill/>
          <a:ln/>
        </p:spPr>
        <p:txBody>
          <a:bodyPr wrap="square" lIns="0" tIns="0" rIns="0" bIns="0" rtlCol="0" anchor="t"/>
          <a:lstStyle/>
          <a:p>
            <a:pPr indent="0" marL="0">
              <a:buNone/>
            </a:pPr>
            <a:r>
              <a:rPr lang="en-US" sz="1400" b="1" dirty="0">
                <a:solidFill>
                  <a:schemeClr val="accent6"/>
                </a:solidFill>
              </a:rPr>
              <a:t>Blast radius</a:t>
            </a:r>
            <a:endParaRPr lang="en-US" sz="1400" dirty="0"/>
          </a:p>
        </p:txBody>
      </p:sp>
      <p:sp>
        <p:nvSpPr>
          <p:cNvPr id="19" name="Blast rows"/>
          <p:cNvSpPr txBox="1"/>
          <p:nvPr/>
        </p:nvSpPr>
        <p:spPr>
          <a:xfrm>
            <a:off x="7818120" y="1874520"/>
            <a:ext cx="3566160" cy="457200"/>
          </a:xfrm>
          <a:prstGeom prst="rect">
            <a:avLst/>
          </a:prstGeom>
          <a:noFill/>
          <a:ln/>
        </p:spPr>
        <p:txBody>
          <a:bodyPr wrap="square" lIns="0" tIns="0" rIns="0" bIns="0" rtlCol="0" anchor="t"/>
          <a:lstStyle/>
          <a:p>
            <a:pPr indent="0" marL="0">
              <a:buNone/>
            </a:pPr>
            <a:r>
              <a:rPr lang="en-US" sz="2400" b="1" dirty="0">
                <a:solidFill>
                  <a:schemeClr val="accent3"/>
                </a:solidFill>
              </a:rPr>
              <a:t>1,225 of 1,225 rows</a:t>
            </a:r>
            <a:endParaRPr lang="en-US" sz="2400" dirty="0"/>
          </a:p>
        </p:txBody>
      </p:sp>
      <p:sp>
        <p:nvSpPr>
          <p:cNvPr id="20" name="Blast detail"/>
          <p:cNvSpPr txBox="1"/>
          <p:nvPr/>
        </p:nvSpPr>
        <p:spPr>
          <a:xfrm>
            <a:off x="7818120" y="2423160"/>
            <a:ext cx="3566160" cy="320040"/>
          </a:xfrm>
          <a:prstGeom prst="rect">
            <a:avLst/>
          </a:prstGeom>
          <a:noFill/>
          <a:ln/>
        </p:spPr>
        <p:txBody>
          <a:bodyPr wrap="square" lIns="0" tIns="0" rIns="0" bIns="0" rtlCol="0" anchor="t"/>
          <a:lstStyle/>
          <a:p>
            <a:pPr indent="0" marL="0">
              <a:buNone/>
            </a:pPr>
            <a:r>
              <a:rPr lang="en-US" sz="1200" dirty="0">
                <a:solidFill>
                  <a:schemeClr val="accent6"/>
                </a:solidFill>
              </a:rPr>
              <a:t>silver, gold fact and KPI mart held back</a:t>
            </a:r>
            <a:endParaRPr lang="en-US" sz="1200" dirty="0"/>
          </a:p>
        </p:txBody>
      </p:sp>
      <p:sp>
        <p:nvSpPr>
          <p:cNvPr id="21" name="Runbook card"/>
          <p:cNvSpPr/>
          <p:nvPr/>
        </p:nvSpPr>
        <p:spPr>
          <a:xfrm>
            <a:off x="7589520" y="3063240"/>
            <a:ext cx="4023360" cy="1417320"/>
          </a:xfrm>
          <a:prstGeom prst="roundRect">
            <a:avLst>
              <a:gd name="adj" fmla="val 7742"/>
            </a:avLst>
          </a:prstGeom>
          <a:solidFill>
            <a:schemeClr val="tx2"/>
          </a:solidFill>
          <a:ln w="12700">
            <a:solidFill>
              <a:schemeClr val="accent5"/>
            </a:solidFill>
            <a:prstDash val="solid"/>
          </a:ln>
        </p:spPr>
      </p:sp>
      <p:sp>
        <p:nvSpPr>
          <p:cNvPr id="22" name="Runbook label"/>
          <p:cNvSpPr txBox="1"/>
          <p:nvPr/>
        </p:nvSpPr>
        <p:spPr>
          <a:xfrm>
            <a:off x="7818120" y="3200400"/>
            <a:ext cx="3566160" cy="274320"/>
          </a:xfrm>
          <a:prstGeom prst="rect">
            <a:avLst/>
          </a:prstGeom>
          <a:noFill/>
          <a:ln/>
        </p:spPr>
        <p:txBody>
          <a:bodyPr wrap="square" lIns="0" tIns="0" rIns="0" bIns="0" rtlCol="0" anchor="t"/>
          <a:lstStyle/>
          <a:p>
            <a:pPr indent="0" marL="0">
              <a:buNone/>
            </a:pPr>
            <a:r>
              <a:rPr lang="en-US" sz="1400" b="1" dirty="0">
                <a:solidFill>
                  <a:schemeClr val="accent6"/>
                </a:solidFill>
              </a:rPr>
              <a:t>Runbook (retrieved by TF-IDF)</a:t>
            </a:r>
            <a:endParaRPr lang="en-US" sz="1400" dirty="0"/>
          </a:p>
        </p:txBody>
      </p:sp>
      <p:sp>
        <p:nvSpPr>
          <p:cNvPr id="23" name="Runbook text"/>
          <p:cNvSpPr txBox="1"/>
          <p:nvPr/>
        </p:nvSpPr>
        <p:spPr>
          <a:xfrm>
            <a:off x="7818120" y="3520440"/>
            <a:ext cx="3566160" cy="868680"/>
          </a:xfrm>
          <a:prstGeom prst="rect">
            <a:avLst/>
          </a:prstGeom>
          <a:noFill/>
          <a:ln/>
        </p:spPr>
        <p:txBody>
          <a:bodyPr wrap="square" lIns="0" tIns="0" rIns="0" bIns="0" rtlCol="0" anchor="t"/>
          <a:lstStyle/>
          <a:p>
            <a:pPr indent="0" marL="0">
              <a:buNone/>
            </a:pPr>
            <a:r>
              <a:rPr lang="en-US" sz="1400" dirty="0">
                <a:solidFill>
                  <a:schemeClr val="bg2"/>
                </a:solidFill>
              </a:rPr>
              <a:t>Ask the producer to roll back or bump the contract; replay the batch with the same batch_id.</a:t>
            </a:r>
            <a:endParaRPr lang="en-US" sz="1400" dirty="0"/>
          </a:p>
        </p:txBody>
      </p:sp>
      <p:sp>
        <p:nvSpPr>
          <p:cNvPr id="24" name="Patch card"/>
          <p:cNvSpPr/>
          <p:nvPr/>
        </p:nvSpPr>
        <p:spPr>
          <a:xfrm>
            <a:off x="7589520" y="4663440"/>
            <a:ext cx="4023360" cy="1280160"/>
          </a:xfrm>
          <a:prstGeom prst="roundRect">
            <a:avLst>
              <a:gd name="adj" fmla="val 8571"/>
            </a:avLst>
          </a:prstGeom>
          <a:solidFill>
            <a:srgbClr val="0B1020"/>
          </a:solidFill>
          <a:ln w="12700">
            <a:solidFill>
              <a:schemeClr val="accent5"/>
            </a:solidFill>
            <a:prstDash val="solid"/>
          </a:ln>
        </p:spPr>
      </p:sp>
      <p:sp>
        <p:nvSpPr>
          <p:cNvPr id="25" name="Patch label"/>
          <p:cNvSpPr txBox="1"/>
          <p:nvPr/>
        </p:nvSpPr>
        <p:spPr>
          <a:xfrm>
            <a:off x="7818120" y="4773168"/>
            <a:ext cx="3566160" cy="274320"/>
          </a:xfrm>
          <a:prstGeom prst="rect">
            <a:avLst/>
          </a:prstGeom>
          <a:noFill/>
          <a:ln/>
        </p:spPr>
        <p:txBody>
          <a:bodyPr wrap="square" lIns="0" tIns="0" rIns="0" bIns="0" rtlCol="0" anchor="t"/>
          <a:lstStyle/>
          <a:p>
            <a:pPr indent="0" marL="0">
              <a:buNone/>
            </a:pPr>
            <a:r>
              <a:rPr lang="en-US" sz="1200" b="1" dirty="0">
                <a:solidFill>
                  <a:schemeClr val="accent6"/>
                </a:solidFill>
              </a:rPr>
              <a:t>Suggested starting point</a:t>
            </a:r>
            <a:endParaRPr lang="en-US" sz="1200" dirty="0"/>
          </a:p>
        </p:txBody>
      </p:sp>
      <p:sp>
        <p:nvSpPr>
          <p:cNvPr id="26" name="Patch code"/>
          <p:cNvSpPr txBox="1"/>
          <p:nvPr/>
        </p:nvSpPr>
        <p:spPr>
          <a:xfrm>
            <a:off x="7818120" y="5120640"/>
            <a:ext cx="3611880" cy="640080"/>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df.rename(columns={'order_amount': 'amount'})</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0C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Measured, not claimed</a:t>
            </a:r>
            <a:endParaRPr lang="en-US" sz="3600" dirty="0"/>
          </a:p>
        </p:txBody>
      </p:sp>
      <p:sp>
        <p:nvSpPr>
          <p:cNvPr id="3" name="Result card 1"/>
          <p:cNvSpPr/>
          <p:nvPr/>
        </p:nvSpPr>
        <p:spPr>
          <a:xfrm>
            <a:off x="548640" y="1463040"/>
            <a:ext cx="2651760" cy="2468880"/>
          </a:xfrm>
          <a:prstGeom prst="roundRect">
            <a:avLst>
              <a:gd name="adj" fmla="val 4444"/>
            </a:avLst>
          </a:prstGeom>
          <a:solidFill>
            <a:schemeClr val="tx2"/>
          </a:solidFill>
          <a:ln w="12700">
            <a:solidFill>
              <a:schemeClr val="accent5"/>
            </a:solidFill>
            <a:prstDash val="solid"/>
          </a:ln>
        </p:spPr>
      </p:sp>
      <p:sp>
        <p:nvSpPr>
          <p:cNvPr id="4" name="Result 1"/>
          <p:cNvSpPr txBox="1"/>
          <p:nvPr/>
        </p:nvSpPr>
        <p:spPr>
          <a:xfrm>
            <a:off x="777240" y="1691640"/>
            <a:ext cx="2286000" cy="914400"/>
          </a:xfrm>
          <a:prstGeom prst="rect">
            <a:avLst/>
          </a:prstGeom>
          <a:noFill/>
          <a:ln/>
        </p:spPr>
        <p:txBody>
          <a:bodyPr wrap="square" lIns="0" tIns="0" rIns="0" bIns="0" rtlCol="0" anchor="ctr"/>
          <a:lstStyle/>
          <a:p>
            <a:pPr indent="0" marL="0">
              <a:buNone/>
            </a:pPr>
            <a:r>
              <a:rPr lang="en-US" sz="4400" b="1" dirty="0">
                <a:solidFill>
                  <a:schemeClr val="accent2"/>
                </a:solidFill>
              </a:rPr>
              <a:t>100%</a:t>
            </a:r>
            <a:endParaRPr lang="en-US" sz="4400" dirty="0"/>
          </a:p>
        </p:txBody>
      </p:sp>
      <p:sp>
        <p:nvSpPr>
          <p:cNvPr id="5" name="Result label 1"/>
          <p:cNvSpPr txBox="1"/>
          <p:nvPr/>
        </p:nvSpPr>
        <p:spPr>
          <a:xfrm>
            <a:off x="777240" y="2743200"/>
            <a:ext cx="2240280" cy="1097280"/>
          </a:xfrm>
          <a:prstGeom prst="rect">
            <a:avLst/>
          </a:prstGeom>
          <a:noFill/>
          <a:ln/>
        </p:spPr>
        <p:txBody>
          <a:bodyPr wrap="square" lIns="0" tIns="0" rIns="0" bIns="0" rtlCol="0" anchor="t"/>
          <a:lstStyle/>
          <a:p>
            <a:pPr indent="0" marL="0">
              <a:buNone/>
            </a:pPr>
            <a:r>
              <a:rPr lang="en-US" sz="1400" dirty="0">
                <a:solidFill>
                  <a:schemeClr val="bg2"/>
                </a:solidFill>
              </a:rPr>
              <a:t>180 injected failure batches detected with the expected incident type</a:t>
            </a:r>
            <a:endParaRPr lang="en-US" sz="1400" dirty="0"/>
          </a:p>
        </p:txBody>
      </p:sp>
      <p:sp>
        <p:nvSpPr>
          <p:cNvPr id="6" name="Result card 2"/>
          <p:cNvSpPr/>
          <p:nvPr/>
        </p:nvSpPr>
        <p:spPr>
          <a:xfrm>
            <a:off x="3383280" y="1463040"/>
            <a:ext cx="2651760" cy="2468880"/>
          </a:xfrm>
          <a:prstGeom prst="roundRect">
            <a:avLst>
              <a:gd name="adj" fmla="val 4444"/>
            </a:avLst>
          </a:prstGeom>
          <a:solidFill>
            <a:schemeClr val="tx2"/>
          </a:solidFill>
          <a:ln w="12700">
            <a:solidFill>
              <a:schemeClr val="accent5"/>
            </a:solidFill>
            <a:prstDash val="solid"/>
          </a:ln>
        </p:spPr>
      </p:sp>
      <p:sp>
        <p:nvSpPr>
          <p:cNvPr id="7" name="Result 2"/>
          <p:cNvSpPr txBox="1"/>
          <p:nvPr/>
        </p:nvSpPr>
        <p:spPr>
          <a:xfrm>
            <a:off x="3611880" y="1691640"/>
            <a:ext cx="2286000" cy="914400"/>
          </a:xfrm>
          <a:prstGeom prst="rect">
            <a:avLst/>
          </a:prstGeom>
          <a:noFill/>
          <a:ln/>
        </p:spPr>
        <p:txBody>
          <a:bodyPr wrap="square" lIns="0" tIns="0" rIns="0" bIns="0" rtlCol="0" anchor="ctr"/>
          <a:lstStyle/>
          <a:p>
            <a:pPr indent="0" marL="0">
              <a:buNone/>
            </a:pPr>
            <a:r>
              <a:rPr lang="en-US" sz="4400" b="1" dirty="0">
                <a:solidFill>
                  <a:schemeClr val="accent1"/>
                </a:solidFill>
              </a:rPr>
              <a:t>0 of 100</a:t>
            </a:r>
            <a:endParaRPr lang="en-US" sz="4400" dirty="0"/>
          </a:p>
        </p:txBody>
      </p:sp>
      <p:sp>
        <p:nvSpPr>
          <p:cNvPr id="8" name="Result label 2"/>
          <p:cNvSpPr txBox="1"/>
          <p:nvPr/>
        </p:nvSpPr>
        <p:spPr>
          <a:xfrm>
            <a:off x="3611880" y="2743200"/>
            <a:ext cx="2240280" cy="1097280"/>
          </a:xfrm>
          <a:prstGeom prst="rect">
            <a:avLst/>
          </a:prstGeom>
          <a:noFill/>
          <a:ln/>
        </p:spPr>
        <p:txBody>
          <a:bodyPr wrap="square" lIns="0" tIns="0" rIns="0" bIns="0" rtlCol="0" anchor="t"/>
          <a:lstStyle/>
          <a:p>
            <a:pPr indent="0" marL="0">
              <a:buNone/>
            </a:pPr>
            <a:r>
              <a:rPr lang="en-US" sz="1400" dirty="0">
                <a:solidFill>
                  <a:schemeClr val="bg2"/>
                </a:solidFill>
              </a:rPr>
              <a:t>false positives on healthy batches</a:t>
            </a:r>
            <a:endParaRPr lang="en-US" sz="1400" dirty="0"/>
          </a:p>
        </p:txBody>
      </p:sp>
      <p:sp>
        <p:nvSpPr>
          <p:cNvPr id="9" name="Result card 3"/>
          <p:cNvSpPr/>
          <p:nvPr/>
        </p:nvSpPr>
        <p:spPr>
          <a:xfrm>
            <a:off x="6217920" y="1463040"/>
            <a:ext cx="2651760" cy="2468880"/>
          </a:xfrm>
          <a:prstGeom prst="roundRect">
            <a:avLst>
              <a:gd name="adj" fmla="val 4444"/>
            </a:avLst>
          </a:prstGeom>
          <a:solidFill>
            <a:schemeClr val="tx2"/>
          </a:solidFill>
          <a:ln w="12700">
            <a:solidFill>
              <a:schemeClr val="accent5"/>
            </a:solidFill>
            <a:prstDash val="solid"/>
          </a:ln>
        </p:spPr>
      </p:sp>
      <p:sp>
        <p:nvSpPr>
          <p:cNvPr id="10" name="Result 3"/>
          <p:cNvSpPr txBox="1"/>
          <p:nvPr/>
        </p:nvSpPr>
        <p:spPr>
          <a:xfrm>
            <a:off x="6446520" y="1691640"/>
            <a:ext cx="2286000" cy="914400"/>
          </a:xfrm>
          <a:prstGeom prst="rect">
            <a:avLst/>
          </a:prstGeom>
          <a:noFill/>
          <a:ln/>
        </p:spPr>
        <p:txBody>
          <a:bodyPr wrap="square" lIns="0" tIns="0" rIns="0" bIns="0" rtlCol="0" anchor="ctr"/>
          <a:lstStyle/>
          <a:p>
            <a:pPr indent="0" marL="0">
              <a:buNone/>
            </a:pPr>
            <a:r>
              <a:rPr lang="en-US" sz="4400" b="1" dirty="0">
                <a:solidFill>
                  <a:schemeClr val="accent4"/>
                </a:solidFill>
              </a:rPr>
              <a:t>29%</a:t>
            </a:r>
            <a:endParaRPr lang="en-US" sz="4400" dirty="0"/>
          </a:p>
        </p:txBody>
      </p:sp>
      <p:sp>
        <p:nvSpPr>
          <p:cNvPr id="11" name="Result label 3"/>
          <p:cNvSpPr txBox="1"/>
          <p:nvPr/>
        </p:nvSpPr>
        <p:spPr>
          <a:xfrm>
            <a:off x="6446520" y="2743200"/>
            <a:ext cx="2240280" cy="1097280"/>
          </a:xfrm>
          <a:prstGeom prst="rect">
            <a:avLst/>
          </a:prstGeom>
          <a:noFill/>
          <a:ln/>
        </p:spPr>
        <p:txBody>
          <a:bodyPr wrap="square" lIns="0" tIns="0" rIns="0" bIns="0" rtlCol="0" anchor="t"/>
          <a:lstStyle/>
          <a:p>
            <a:pPr indent="0" marL="0">
              <a:buNone/>
            </a:pPr>
            <a:r>
              <a:rPr lang="en-US" sz="1400" dirty="0">
                <a:solidFill>
                  <a:schemeClr val="bg2"/>
                </a:solidFill>
              </a:rPr>
              <a:t>fewer alerts after causal triage (254 to 180)</a:t>
            </a:r>
            <a:endParaRPr lang="en-US" sz="1400" dirty="0"/>
          </a:p>
        </p:txBody>
      </p:sp>
      <p:sp>
        <p:nvSpPr>
          <p:cNvPr id="12" name="Result card 4"/>
          <p:cNvSpPr/>
          <p:nvPr/>
        </p:nvSpPr>
        <p:spPr>
          <a:xfrm>
            <a:off x="9052560" y="1463040"/>
            <a:ext cx="2651760" cy="2468880"/>
          </a:xfrm>
          <a:prstGeom prst="roundRect">
            <a:avLst>
              <a:gd name="adj" fmla="val 4444"/>
            </a:avLst>
          </a:prstGeom>
          <a:solidFill>
            <a:schemeClr val="tx2"/>
          </a:solidFill>
          <a:ln w="12700">
            <a:solidFill>
              <a:schemeClr val="accent5"/>
            </a:solidFill>
            <a:prstDash val="solid"/>
          </a:ln>
        </p:spPr>
      </p:sp>
      <p:sp>
        <p:nvSpPr>
          <p:cNvPr id="13" name="Result 4"/>
          <p:cNvSpPr txBox="1"/>
          <p:nvPr/>
        </p:nvSpPr>
        <p:spPr>
          <a:xfrm>
            <a:off x="9281160" y="1691640"/>
            <a:ext cx="2286000" cy="914400"/>
          </a:xfrm>
          <a:prstGeom prst="rect">
            <a:avLst/>
          </a:prstGeom>
          <a:noFill/>
          <a:ln/>
        </p:spPr>
        <p:txBody>
          <a:bodyPr wrap="square" lIns="0" tIns="0" rIns="0" bIns="0" rtlCol="0" anchor="ctr"/>
          <a:lstStyle/>
          <a:p>
            <a:pPr indent="0" marL="0">
              <a:buNone/>
            </a:pPr>
            <a:r>
              <a:rPr lang="en-US" sz="4400" b="1" dirty="0">
                <a:solidFill>
                  <a:schemeClr val="accent3"/>
                </a:solidFill>
              </a:rPr>
              <a:t>~33k</a:t>
            </a:r>
            <a:endParaRPr lang="en-US" sz="4400" dirty="0"/>
          </a:p>
        </p:txBody>
      </p:sp>
      <p:sp>
        <p:nvSpPr>
          <p:cNvPr id="14" name="Result label 4"/>
          <p:cNvSpPr txBox="1"/>
          <p:nvPr/>
        </p:nvSpPr>
        <p:spPr>
          <a:xfrm>
            <a:off x="9281160" y="2743200"/>
            <a:ext cx="2240280" cy="1097280"/>
          </a:xfrm>
          <a:prstGeom prst="rect">
            <a:avLst/>
          </a:prstGeom>
          <a:noFill/>
          <a:ln/>
        </p:spPr>
        <p:txBody>
          <a:bodyPr wrap="square" lIns="0" tIns="0" rIns="0" bIns="0" rtlCol="0" anchor="t"/>
          <a:lstStyle/>
          <a:p>
            <a:pPr indent="0" marL="0">
              <a:buNone/>
            </a:pPr>
            <a:r>
              <a:rPr lang="en-US" sz="1400" dirty="0">
                <a:solidFill>
                  <a:schemeClr val="bg2"/>
                </a:solidFill>
              </a:rPr>
              <a:t>rows per second, single-process pandas engine</a:t>
            </a:r>
            <a:endParaRPr lang="en-US" sz="1400" dirty="0"/>
          </a:p>
        </p:txBody>
      </p:sp>
      <p:sp>
        <p:nvSpPr>
          <p:cNvPr id="15" name="Caveat card"/>
          <p:cNvSpPr/>
          <p:nvPr/>
        </p:nvSpPr>
        <p:spPr>
          <a:xfrm>
            <a:off x="548640" y="4206240"/>
            <a:ext cx="11064240" cy="1783080"/>
          </a:xfrm>
          <a:prstGeom prst="roundRect">
            <a:avLst>
              <a:gd name="adj" fmla="val 6154"/>
            </a:avLst>
          </a:prstGeom>
          <a:solidFill>
            <a:schemeClr val="tx2"/>
          </a:solidFill>
          <a:ln w="12700">
            <a:solidFill>
              <a:schemeClr val="accent4"/>
            </a:solidFill>
            <a:prstDash val="solid"/>
          </a:ln>
        </p:spPr>
      </p:sp>
      <p:sp>
        <p:nvSpPr>
          <p:cNvPr id="16" name="Caveat title"/>
          <p:cNvSpPr txBox="1"/>
          <p:nvPr/>
        </p:nvSpPr>
        <p:spPr>
          <a:xfrm>
            <a:off x="822960" y="4389120"/>
            <a:ext cx="10515600" cy="320040"/>
          </a:xfrm>
          <a:prstGeom prst="rect">
            <a:avLst/>
          </a:prstGeom>
          <a:noFill/>
          <a:ln/>
        </p:spPr>
        <p:txBody>
          <a:bodyPr wrap="square" lIns="0" tIns="0" rIns="0" bIns="0" rtlCol="0" anchor="t"/>
          <a:lstStyle/>
          <a:p>
            <a:pPr indent="0" marL="0">
              <a:buNone/>
            </a:pPr>
            <a:r>
              <a:rPr lang="en-US" sz="1600" b="1" dirty="0">
                <a:solidFill>
                  <a:schemeClr val="accent4"/>
                </a:solidFill>
              </a:rPr>
              <a:t>Read this before quoting the numbers</a:t>
            </a:r>
            <a:endParaRPr lang="en-US" sz="1600" dirty="0"/>
          </a:p>
        </p:txBody>
      </p:sp>
      <p:sp>
        <p:nvSpPr>
          <p:cNvPr id="17" name="Caveat text"/>
          <p:cNvSpPr txBox="1"/>
          <p:nvPr/>
        </p:nvSpPr>
        <p:spPr>
          <a:xfrm>
            <a:off x="822960" y="4800600"/>
            <a:ext cx="10515600" cy="1097280"/>
          </a:xfrm>
          <a:prstGeom prst="rect">
            <a:avLst/>
          </a:prstGeom>
          <a:noFill/>
          <a:ln/>
        </p:spPr>
        <p:txBody>
          <a:bodyPr wrap="square" lIns="0" tIns="0" rIns="0" bIns="0" rtlCol="0" anchor="t"/>
          <a:lstStyle/>
          <a:p>
            <a:pPr indent="0" marL="0">
              <a:buNone/>
            </a:pPr>
            <a:r>
              <a:rPr lang="en-US" sz="1400" dirty="0">
                <a:solidFill>
                  <a:schemeClr val="bg2"/>
                </a:solidFill>
              </a:rPr>
              <a:t>Synthetic, seeded data (9 modes x 20 seeds). The failure modes and the detectors share an author, so 100% means it catches what it was designed against, not everything. The agent's top-1 root cause is checked against the injected cause. Row-level recall on 400x outliers is 73% because some stay under the global range.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0C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Built like a product, not a notebook</a:t>
            </a:r>
            <a:endParaRPr lang="en-US" sz="3600" dirty="0"/>
          </a:p>
        </p:txBody>
      </p:sp>
      <p:sp>
        <p:nvSpPr>
          <p:cNvPr id="3" name="Quality stat 1"/>
          <p:cNvSpPr/>
          <p:nvPr/>
        </p:nvSpPr>
        <p:spPr>
          <a:xfrm>
            <a:off x="548640" y="1463040"/>
            <a:ext cx="3108960" cy="1325880"/>
          </a:xfrm>
          <a:prstGeom prst="roundRect">
            <a:avLst>
              <a:gd name="adj" fmla="val 8276"/>
            </a:avLst>
          </a:prstGeom>
          <a:solidFill>
            <a:schemeClr val="tx2"/>
          </a:solidFill>
          <a:ln w="12700">
            <a:solidFill>
              <a:schemeClr val="accent5"/>
            </a:solidFill>
            <a:prstDash val="solid"/>
          </a:ln>
        </p:spPr>
      </p:sp>
      <p:sp>
        <p:nvSpPr>
          <p:cNvPr id="4" name="Quality number 1"/>
          <p:cNvSpPr txBox="1"/>
          <p:nvPr/>
        </p:nvSpPr>
        <p:spPr>
          <a:xfrm>
            <a:off x="777240" y="1572768"/>
            <a:ext cx="2651760" cy="731520"/>
          </a:xfrm>
          <a:prstGeom prst="rect">
            <a:avLst/>
          </a:prstGeom>
          <a:noFill/>
          <a:ln/>
        </p:spPr>
        <p:txBody>
          <a:bodyPr wrap="square" lIns="0" tIns="0" rIns="0" bIns="0" rtlCol="0" anchor="t"/>
          <a:lstStyle/>
          <a:p>
            <a:pPr indent="0" marL="0">
              <a:buNone/>
            </a:pPr>
            <a:r>
              <a:rPr lang="en-US" sz="4400" b="1" dirty="0">
                <a:solidFill>
                  <a:schemeClr val="accent2"/>
                </a:solidFill>
              </a:rPr>
              <a:t>98</a:t>
            </a:r>
            <a:endParaRPr lang="en-US" sz="4400" dirty="0"/>
          </a:p>
        </p:txBody>
      </p:sp>
      <p:sp>
        <p:nvSpPr>
          <p:cNvPr id="5" name="Quality label 1"/>
          <p:cNvSpPr txBox="1"/>
          <p:nvPr/>
        </p:nvSpPr>
        <p:spPr>
          <a:xfrm>
            <a:off x="777240" y="2304288"/>
            <a:ext cx="2651760" cy="365760"/>
          </a:xfrm>
          <a:prstGeom prst="rect">
            <a:avLst/>
          </a:prstGeom>
          <a:noFill/>
          <a:ln/>
        </p:spPr>
        <p:txBody>
          <a:bodyPr wrap="square" lIns="0" tIns="0" rIns="0" bIns="0" rtlCol="0" anchor="t"/>
          <a:lstStyle/>
          <a:p>
            <a:pPr indent="0" marL="0">
              <a:buNone/>
            </a:pPr>
            <a:r>
              <a:rPr lang="en-US" sz="1400" dirty="0">
                <a:solidFill>
                  <a:schemeClr val="accent6"/>
                </a:solidFill>
              </a:rPr>
              <a:t>tests</a:t>
            </a:r>
            <a:endParaRPr lang="en-US" sz="1400" dirty="0"/>
          </a:p>
        </p:txBody>
      </p:sp>
      <p:sp>
        <p:nvSpPr>
          <p:cNvPr id="6" name="Quality stat 2"/>
          <p:cNvSpPr/>
          <p:nvPr/>
        </p:nvSpPr>
        <p:spPr>
          <a:xfrm>
            <a:off x="548640" y="2971800"/>
            <a:ext cx="3108960" cy="1325880"/>
          </a:xfrm>
          <a:prstGeom prst="roundRect">
            <a:avLst>
              <a:gd name="adj" fmla="val 8276"/>
            </a:avLst>
          </a:prstGeom>
          <a:solidFill>
            <a:schemeClr val="tx2"/>
          </a:solidFill>
          <a:ln w="12700">
            <a:solidFill>
              <a:schemeClr val="accent5"/>
            </a:solidFill>
            <a:prstDash val="solid"/>
          </a:ln>
        </p:spPr>
      </p:sp>
      <p:sp>
        <p:nvSpPr>
          <p:cNvPr id="7" name="Quality number 2"/>
          <p:cNvSpPr txBox="1"/>
          <p:nvPr/>
        </p:nvSpPr>
        <p:spPr>
          <a:xfrm>
            <a:off x="777240" y="3081528"/>
            <a:ext cx="2651760" cy="731520"/>
          </a:xfrm>
          <a:prstGeom prst="rect">
            <a:avLst/>
          </a:prstGeom>
          <a:noFill/>
          <a:ln/>
        </p:spPr>
        <p:txBody>
          <a:bodyPr wrap="square" lIns="0" tIns="0" rIns="0" bIns="0" rtlCol="0" anchor="t"/>
          <a:lstStyle/>
          <a:p>
            <a:pPr indent="0" marL="0">
              <a:buNone/>
            </a:pPr>
            <a:r>
              <a:rPr lang="en-US" sz="4400" b="1" dirty="0">
                <a:solidFill>
                  <a:schemeClr val="accent2"/>
                </a:solidFill>
              </a:rPr>
              <a:t>100%</a:t>
            </a:r>
            <a:endParaRPr lang="en-US" sz="4400" dirty="0"/>
          </a:p>
        </p:txBody>
      </p:sp>
      <p:sp>
        <p:nvSpPr>
          <p:cNvPr id="8" name="Quality label 2"/>
          <p:cNvSpPr txBox="1"/>
          <p:nvPr/>
        </p:nvSpPr>
        <p:spPr>
          <a:xfrm>
            <a:off x="777240" y="3813048"/>
            <a:ext cx="2651760" cy="365760"/>
          </a:xfrm>
          <a:prstGeom prst="rect">
            <a:avLst/>
          </a:prstGeom>
          <a:noFill/>
          <a:ln/>
        </p:spPr>
        <p:txBody>
          <a:bodyPr wrap="square" lIns="0" tIns="0" rIns="0" bIns="0" rtlCol="0" anchor="t"/>
          <a:lstStyle/>
          <a:p>
            <a:pPr indent="0" marL="0">
              <a:buNone/>
            </a:pPr>
            <a:r>
              <a:rPr lang="en-US" sz="1400" dirty="0">
                <a:solidFill>
                  <a:schemeClr val="accent6"/>
                </a:solidFill>
              </a:rPr>
              <a:t>line coverage</a:t>
            </a:r>
            <a:endParaRPr lang="en-US" sz="1400" dirty="0"/>
          </a:p>
        </p:txBody>
      </p:sp>
      <p:sp>
        <p:nvSpPr>
          <p:cNvPr id="9" name="Quality stat 3"/>
          <p:cNvSpPr/>
          <p:nvPr/>
        </p:nvSpPr>
        <p:spPr>
          <a:xfrm>
            <a:off x="548640" y="4480560"/>
            <a:ext cx="3108960" cy="1325880"/>
          </a:xfrm>
          <a:prstGeom prst="roundRect">
            <a:avLst>
              <a:gd name="adj" fmla="val 8276"/>
            </a:avLst>
          </a:prstGeom>
          <a:solidFill>
            <a:schemeClr val="tx2"/>
          </a:solidFill>
          <a:ln w="12700">
            <a:solidFill>
              <a:schemeClr val="accent5"/>
            </a:solidFill>
            <a:prstDash val="solid"/>
          </a:ln>
        </p:spPr>
      </p:sp>
      <p:sp>
        <p:nvSpPr>
          <p:cNvPr id="10" name="Quality number 3"/>
          <p:cNvSpPr txBox="1"/>
          <p:nvPr/>
        </p:nvSpPr>
        <p:spPr>
          <a:xfrm>
            <a:off x="777240" y="4590288"/>
            <a:ext cx="2651760" cy="731520"/>
          </a:xfrm>
          <a:prstGeom prst="rect">
            <a:avLst/>
          </a:prstGeom>
          <a:noFill/>
          <a:ln/>
        </p:spPr>
        <p:txBody>
          <a:bodyPr wrap="square" lIns="0" tIns="0" rIns="0" bIns="0" rtlCol="0" anchor="t"/>
          <a:lstStyle/>
          <a:p>
            <a:pPr indent="0" marL="0">
              <a:buNone/>
            </a:pPr>
            <a:r>
              <a:rPr lang="en-US" sz="4400" b="1" dirty="0">
                <a:solidFill>
                  <a:schemeClr val="accent2"/>
                </a:solidFill>
              </a:rPr>
              <a:t>2</a:t>
            </a:r>
            <a:endParaRPr lang="en-US" sz="4400" dirty="0"/>
          </a:p>
        </p:txBody>
      </p:sp>
      <p:sp>
        <p:nvSpPr>
          <p:cNvPr id="11" name="Quality label 3"/>
          <p:cNvSpPr txBox="1"/>
          <p:nvPr/>
        </p:nvSpPr>
        <p:spPr>
          <a:xfrm>
            <a:off x="777240" y="5321808"/>
            <a:ext cx="2651760" cy="365760"/>
          </a:xfrm>
          <a:prstGeom prst="rect">
            <a:avLst/>
          </a:prstGeom>
          <a:noFill/>
          <a:ln/>
        </p:spPr>
        <p:txBody>
          <a:bodyPr wrap="square" lIns="0" tIns="0" rIns="0" bIns="0" rtlCol="0" anchor="t"/>
          <a:lstStyle/>
          <a:p>
            <a:pPr indent="0" marL="0">
              <a:buNone/>
            </a:pPr>
            <a:r>
              <a:rPr lang="en-US" sz="1400" dirty="0">
                <a:solidFill>
                  <a:schemeClr val="accent6"/>
                </a:solidFill>
              </a:rPr>
              <a:t>Python versions in CI</a:t>
            </a:r>
            <a:endParaRPr lang="en-US" sz="1400" dirty="0"/>
          </a:p>
        </p:txBody>
      </p:sp>
      <p:sp>
        <p:nvSpPr>
          <p:cNvPr id="12" name="Eng card 1"/>
          <p:cNvSpPr/>
          <p:nvPr/>
        </p:nvSpPr>
        <p:spPr>
          <a:xfrm>
            <a:off x="3931920" y="1463040"/>
            <a:ext cx="7680960" cy="1005840"/>
          </a:xfrm>
          <a:prstGeom prst="roundRect">
            <a:avLst>
              <a:gd name="adj" fmla="val 10909"/>
            </a:avLst>
          </a:prstGeom>
          <a:solidFill>
            <a:schemeClr val="tx2"/>
          </a:solidFill>
          <a:ln w="12700">
            <a:solidFill>
              <a:schemeClr val="accent5"/>
            </a:solidFill>
            <a:prstDash val="solid"/>
          </a:ln>
        </p:spPr>
      </p:sp>
      <p:sp>
        <p:nvSpPr>
          <p:cNvPr id="13" name="Icon CI/CD circle"/>
          <p:cNvSpPr/>
          <p:nvPr/>
        </p:nvSpPr>
        <p:spPr>
          <a:xfrm>
            <a:off x="4160520" y="1645920"/>
            <a:ext cx="640080" cy="640080"/>
          </a:xfrm>
          <a:prstGeom prst="ellipse">
            <a:avLst/>
          </a:prstGeom>
          <a:solidFill>
            <a:srgbClr val="5B8CFF"/>
          </a:solidFill>
          <a:ln w="12700">
            <a:solidFill>
              <a:srgbClr val="5B8CFF"/>
            </a:solidFill>
            <a:prstDash val="solid"/>
          </a:ln>
        </p:spPr>
      </p:sp>
      <p:pic>
        <p:nvPicPr>
          <p:cNvPr id="14" name="Icon CI/CD" descr="Icon CI/CD">    </p:cNvPr>
          <p:cNvPicPr>
            <a:picLocks noChangeAspect="1"/>
          </p:cNvPicPr>
          <p:nvPr/>
        </p:nvPicPr>
        <p:blipFill>
          <a:blip r:embed="rId1"/>
          <a:stretch>
            <a:fillRect/>
          </a:stretch>
        </p:blipFill>
        <p:spPr>
          <a:xfrm>
            <a:off x="4326941" y="1812341"/>
            <a:ext cx="307238" cy="307238"/>
          </a:xfrm>
          <a:prstGeom prst="rect">
            <a:avLst/>
          </a:prstGeom>
        </p:spPr>
      </p:pic>
      <p:sp>
        <p:nvSpPr>
          <p:cNvPr id="15" name="CI/CD"/>
          <p:cNvSpPr txBox="1"/>
          <p:nvPr/>
        </p:nvSpPr>
        <p:spPr>
          <a:xfrm>
            <a:off x="5029200" y="1591056"/>
            <a:ext cx="6309360" cy="320040"/>
          </a:xfrm>
          <a:prstGeom prst="rect">
            <a:avLst/>
          </a:prstGeom>
          <a:noFill/>
          <a:ln/>
        </p:spPr>
        <p:txBody>
          <a:bodyPr wrap="square" lIns="0" tIns="0" rIns="0" bIns="0" rtlCol="0" anchor="t"/>
          <a:lstStyle/>
          <a:p>
            <a:pPr indent="0" marL="0">
              <a:buNone/>
            </a:pPr>
            <a:r>
              <a:rPr lang="en-US" sz="1800" b="1" dirty="0">
                <a:solidFill>
                  <a:schemeClr val="bg1"/>
                </a:solidFill>
              </a:rPr>
              <a:t>CI/CD</a:t>
            </a:r>
            <a:endParaRPr lang="en-US" sz="1800" dirty="0"/>
          </a:p>
        </p:txBody>
      </p:sp>
      <p:sp>
        <p:nvSpPr>
          <p:cNvPr id="16" name="CI/CD detail"/>
          <p:cNvSpPr txBox="1"/>
          <p:nvPr/>
        </p:nvSpPr>
        <p:spPr>
          <a:xfrm>
            <a:off x="5029200" y="1938528"/>
            <a:ext cx="6309360" cy="457200"/>
          </a:xfrm>
          <a:prstGeom prst="rect">
            <a:avLst/>
          </a:prstGeom>
          <a:noFill/>
          <a:ln/>
        </p:spPr>
        <p:txBody>
          <a:bodyPr wrap="square" lIns="0" tIns="0" rIns="0" bIns="0" rtlCol="0" anchor="t"/>
          <a:lstStyle/>
          <a:p>
            <a:pPr indent="0" marL="0">
              <a:buNone/>
            </a:pPr>
            <a:r>
              <a:rPr lang="en-US" sz="1400" dirty="0">
                <a:solidFill>
                  <a:schemeClr val="accent6"/>
                </a:solidFill>
              </a:rPr>
              <a:t>GitHub Actions: lint, tests on 3.11 and 3.12, coverage gate, benchmark smoke test</a:t>
            </a:r>
            <a:endParaRPr lang="en-US" sz="1400" dirty="0"/>
          </a:p>
        </p:txBody>
      </p:sp>
      <p:sp>
        <p:nvSpPr>
          <p:cNvPr id="17" name="Eng card 2"/>
          <p:cNvSpPr/>
          <p:nvPr/>
        </p:nvSpPr>
        <p:spPr>
          <a:xfrm>
            <a:off x="3931920" y="2606040"/>
            <a:ext cx="7680960" cy="1005840"/>
          </a:xfrm>
          <a:prstGeom prst="roundRect">
            <a:avLst>
              <a:gd name="adj" fmla="val 10909"/>
            </a:avLst>
          </a:prstGeom>
          <a:solidFill>
            <a:schemeClr val="tx2"/>
          </a:solidFill>
          <a:ln w="12700">
            <a:solidFill>
              <a:schemeClr val="accent5"/>
            </a:solidFill>
            <a:prstDash val="solid"/>
          </a:ln>
        </p:spPr>
      </p:sp>
      <p:sp>
        <p:nvSpPr>
          <p:cNvPr id="18" name="Icon One command circle"/>
          <p:cNvSpPr/>
          <p:nvPr/>
        </p:nvSpPr>
        <p:spPr>
          <a:xfrm>
            <a:off x="4160520" y="2788920"/>
            <a:ext cx="640080" cy="640080"/>
          </a:xfrm>
          <a:prstGeom prst="ellipse">
            <a:avLst/>
          </a:prstGeom>
          <a:solidFill>
            <a:srgbClr val="2DD4A8"/>
          </a:solidFill>
          <a:ln w="12700">
            <a:solidFill>
              <a:srgbClr val="2DD4A8"/>
            </a:solidFill>
            <a:prstDash val="solid"/>
          </a:ln>
        </p:spPr>
      </p:sp>
      <p:pic>
        <p:nvPicPr>
          <p:cNvPr id="19" name="Icon One command" descr="Icon One command">    </p:cNvPr>
          <p:cNvPicPr>
            <a:picLocks noChangeAspect="1"/>
          </p:cNvPicPr>
          <p:nvPr/>
        </p:nvPicPr>
        <p:blipFill>
          <a:blip r:embed="rId2"/>
          <a:stretch>
            <a:fillRect/>
          </a:stretch>
        </p:blipFill>
        <p:spPr>
          <a:xfrm>
            <a:off x="4326941" y="2955341"/>
            <a:ext cx="307238" cy="307238"/>
          </a:xfrm>
          <a:prstGeom prst="rect">
            <a:avLst/>
          </a:prstGeom>
        </p:spPr>
      </p:pic>
      <p:sp>
        <p:nvSpPr>
          <p:cNvPr id="20" name="One command"/>
          <p:cNvSpPr txBox="1"/>
          <p:nvPr/>
        </p:nvSpPr>
        <p:spPr>
          <a:xfrm>
            <a:off x="5029200" y="2734056"/>
            <a:ext cx="6309360" cy="320040"/>
          </a:xfrm>
          <a:prstGeom prst="rect">
            <a:avLst/>
          </a:prstGeom>
          <a:noFill/>
          <a:ln/>
        </p:spPr>
        <p:txBody>
          <a:bodyPr wrap="square" lIns="0" tIns="0" rIns="0" bIns="0" rtlCol="0" anchor="t"/>
          <a:lstStyle/>
          <a:p>
            <a:pPr indent="0" marL="0">
              <a:buNone/>
            </a:pPr>
            <a:r>
              <a:rPr lang="en-US" sz="1800" b="1" dirty="0">
                <a:solidFill>
                  <a:schemeClr val="bg1"/>
                </a:solidFill>
              </a:rPr>
              <a:t>One command</a:t>
            </a:r>
            <a:endParaRPr lang="en-US" sz="1800" dirty="0"/>
          </a:p>
        </p:txBody>
      </p:sp>
      <p:sp>
        <p:nvSpPr>
          <p:cNvPr id="21" name="One command detail"/>
          <p:cNvSpPr txBox="1"/>
          <p:nvPr/>
        </p:nvSpPr>
        <p:spPr>
          <a:xfrm>
            <a:off x="5029200" y="3081528"/>
            <a:ext cx="6309360" cy="457200"/>
          </a:xfrm>
          <a:prstGeom prst="rect">
            <a:avLst/>
          </a:prstGeom>
          <a:noFill/>
          <a:ln/>
        </p:spPr>
        <p:txBody>
          <a:bodyPr wrap="square" lIns="0" tIns="0" rIns="0" bIns="0" rtlCol="0" anchor="t"/>
          <a:lstStyle/>
          <a:p>
            <a:pPr indent="0" marL="0">
              <a:buNone/>
            </a:pPr>
            <a:r>
              <a:rPr lang="en-US" sz="1400" dirty="0">
                <a:solidFill>
                  <a:schemeClr val="accent6"/>
                </a:solidFill>
              </a:rPr>
              <a:t>docker compose up serves the dashboard; pip install and lakehouseguard demo also work</a:t>
            </a:r>
            <a:endParaRPr lang="en-US" sz="1400" dirty="0"/>
          </a:p>
        </p:txBody>
      </p:sp>
      <p:sp>
        <p:nvSpPr>
          <p:cNvPr id="22" name="Eng card 3"/>
          <p:cNvSpPr/>
          <p:nvPr/>
        </p:nvSpPr>
        <p:spPr>
          <a:xfrm>
            <a:off x="3931920" y="3749040"/>
            <a:ext cx="7680960" cy="1005840"/>
          </a:xfrm>
          <a:prstGeom prst="roundRect">
            <a:avLst>
              <a:gd name="adj" fmla="val 10909"/>
            </a:avLst>
          </a:prstGeom>
          <a:solidFill>
            <a:schemeClr val="tx2"/>
          </a:solidFill>
          <a:ln w="12700">
            <a:solidFill>
              <a:schemeClr val="accent5"/>
            </a:solidFill>
            <a:prstDash val="solid"/>
          </a:ln>
        </p:spPr>
      </p:sp>
      <p:sp>
        <p:nvSpPr>
          <p:cNvPr id="23" name="Icon Live dashboard circle"/>
          <p:cNvSpPr/>
          <p:nvPr/>
        </p:nvSpPr>
        <p:spPr>
          <a:xfrm>
            <a:off x="4160520" y="3931920"/>
            <a:ext cx="640080" cy="640080"/>
          </a:xfrm>
          <a:prstGeom prst="ellipse">
            <a:avLst/>
          </a:prstGeom>
          <a:solidFill>
            <a:srgbClr val="F5B942"/>
          </a:solidFill>
          <a:ln w="12700">
            <a:solidFill>
              <a:srgbClr val="F5B942"/>
            </a:solidFill>
            <a:prstDash val="solid"/>
          </a:ln>
        </p:spPr>
      </p:sp>
      <p:pic>
        <p:nvPicPr>
          <p:cNvPr id="24" name="Icon Live dashboard" descr="Icon Live dashboard">    </p:cNvPr>
          <p:cNvPicPr>
            <a:picLocks noChangeAspect="1"/>
          </p:cNvPicPr>
          <p:nvPr/>
        </p:nvPicPr>
        <p:blipFill>
          <a:blip r:embed="rId3"/>
          <a:stretch>
            <a:fillRect/>
          </a:stretch>
        </p:blipFill>
        <p:spPr>
          <a:xfrm>
            <a:off x="4326941" y="4098341"/>
            <a:ext cx="307238" cy="307238"/>
          </a:xfrm>
          <a:prstGeom prst="rect">
            <a:avLst/>
          </a:prstGeom>
        </p:spPr>
      </p:pic>
      <p:sp>
        <p:nvSpPr>
          <p:cNvPr id="25" name="Live dashboard"/>
          <p:cNvSpPr txBox="1"/>
          <p:nvPr/>
        </p:nvSpPr>
        <p:spPr>
          <a:xfrm>
            <a:off x="5029200" y="3877056"/>
            <a:ext cx="6309360" cy="320040"/>
          </a:xfrm>
          <a:prstGeom prst="rect">
            <a:avLst/>
          </a:prstGeom>
          <a:noFill/>
          <a:ln/>
        </p:spPr>
        <p:txBody>
          <a:bodyPr wrap="square" lIns="0" tIns="0" rIns="0" bIns="0" rtlCol="0" anchor="t"/>
          <a:lstStyle/>
          <a:p>
            <a:pPr indent="0" marL="0">
              <a:buNone/>
            </a:pPr>
            <a:r>
              <a:rPr lang="en-US" sz="1800" b="1" dirty="0">
                <a:solidFill>
                  <a:schemeClr val="bg1"/>
                </a:solidFill>
              </a:rPr>
              <a:t>Live dashboard</a:t>
            </a:r>
            <a:endParaRPr lang="en-US" sz="1800" dirty="0"/>
          </a:p>
        </p:txBody>
      </p:sp>
      <p:sp>
        <p:nvSpPr>
          <p:cNvPr id="26" name="Live dashboard detail"/>
          <p:cNvSpPr txBox="1"/>
          <p:nvPr/>
        </p:nvSpPr>
        <p:spPr>
          <a:xfrm>
            <a:off x="5029200" y="4224528"/>
            <a:ext cx="6309360" cy="457200"/>
          </a:xfrm>
          <a:prstGeom prst="rect">
            <a:avLst/>
          </a:prstGeom>
          <a:noFill/>
          <a:ln/>
        </p:spPr>
        <p:txBody>
          <a:bodyPr wrap="square" lIns="0" tIns="0" rIns="0" bIns="0" rtlCol="0" anchor="t"/>
          <a:lstStyle/>
          <a:p>
            <a:pPr indent="0" marL="0">
              <a:buNone/>
            </a:pPr>
            <a:r>
              <a:rPr lang="en-US" sz="1400" dirty="0">
                <a:solidFill>
                  <a:schemeClr val="accent6"/>
                </a:solidFill>
              </a:rPr>
              <a:t>GitHub Pages rebuilds a self-contained HTML dashboard from the pipeline on every push</a:t>
            </a:r>
            <a:endParaRPr lang="en-US" sz="1400" dirty="0"/>
          </a:p>
        </p:txBody>
      </p:sp>
      <p:sp>
        <p:nvSpPr>
          <p:cNvPr id="27" name="Eng card 4"/>
          <p:cNvSpPr/>
          <p:nvPr/>
        </p:nvSpPr>
        <p:spPr>
          <a:xfrm>
            <a:off x="3931920" y="4892040"/>
            <a:ext cx="7680960" cy="1005840"/>
          </a:xfrm>
          <a:prstGeom prst="roundRect">
            <a:avLst>
              <a:gd name="adj" fmla="val 10909"/>
            </a:avLst>
          </a:prstGeom>
          <a:solidFill>
            <a:schemeClr val="tx2"/>
          </a:solidFill>
          <a:ln w="12700">
            <a:solidFill>
              <a:schemeClr val="accent5"/>
            </a:solidFill>
            <a:prstDash val="solid"/>
          </a:ln>
        </p:spPr>
      </p:sp>
      <p:sp>
        <p:nvSpPr>
          <p:cNvPr id="28" name="Icon Documented decisions circle"/>
          <p:cNvSpPr/>
          <p:nvPr/>
        </p:nvSpPr>
        <p:spPr>
          <a:xfrm>
            <a:off x="4160520" y="5074920"/>
            <a:ext cx="640080" cy="640080"/>
          </a:xfrm>
          <a:prstGeom prst="ellipse">
            <a:avLst/>
          </a:prstGeom>
          <a:solidFill>
            <a:srgbClr val="FF5C7A"/>
          </a:solidFill>
          <a:ln w="12700">
            <a:solidFill>
              <a:srgbClr val="FF5C7A"/>
            </a:solidFill>
            <a:prstDash val="solid"/>
          </a:ln>
        </p:spPr>
      </p:sp>
      <p:pic>
        <p:nvPicPr>
          <p:cNvPr id="29" name="Icon Documented decisions" descr="Icon Documented decisions">    </p:cNvPr>
          <p:cNvPicPr>
            <a:picLocks noChangeAspect="1"/>
          </p:cNvPicPr>
          <p:nvPr/>
        </p:nvPicPr>
        <p:blipFill>
          <a:blip r:embed="rId4"/>
          <a:stretch>
            <a:fillRect/>
          </a:stretch>
        </p:blipFill>
        <p:spPr>
          <a:xfrm>
            <a:off x="4326941" y="5241341"/>
            <a:ext cx="307238" cy="307238"/>
          </a:xfrm>
          <a:prstGeom prst="rect">
            <a:avLst/>
          </a:prstGeom>
        </p:spPr>
      </p:pic>
      <p:sp>
        <p:nvSpPr>
          <p:cNvPr id="30" name="Documented decisions"/>
          <p:cNvSpPr txBox="1"/>
          <p:nvPr/>
        </p:nvSpPr>
        <p:spPr>
          <a:xfrm>
            <a:off x="5029200" y="5020056"/>
            <a:ext cx="6309360" cy="320040"/>
          </a:xfrm>
          <a:prstGeom prst="rect">
            <a:avLst/>
          </a:prstGeom>
          <a:noFill/>
          <a:ln/>
        </p:spPr>
        <p:txBody>
          <a:bodyPr wrap="square" lIns="0" tIns="0" rIns="0" bIns="0" rtlCol="0" anchor="t"/>
          <a:lstStyle/>
          <a:p>
            <a:pPr indent="0" marL="0">
              <a:buNone/>
            </a:pPr>
            <a:r>
              <a:rPr lang="en-US" sz="1800" b="1" dirty="0">
                <a:solidFill>
                  <a:schemeClr val="bg1"/>
                </a:solidFill>
              </a:rPr>
              <a:t>Documented decisions</a:t>
            </a:r>
            <a:endParaRPr lang="en-US" sz="1800" dirty="0"/>
          </a:p>
        </p:txBody>
      </p:sp>
      <p:sp>
        <p:nvSpPr>
          <p:cNvPr id="31" name="Documented decisions detail"/>
          <p:cNvSpPr txBox="1"/>
          <p:nvPr/>
        </p:nvSpPr>
        <p:spPr>
          <a:xfrm>
            <a:off x="5029200" y="5367528"/>
            <a:ext cx="6309360" cy="457200"/>
          </a:xfrm>
          <a:prstGeom prst="rect">
            <a:avLst/>
          </a:prstGeom>
          <a:noFill/>
          <a:ln/>
        </p:spPr>
        <p:txBody>
          <a:bodyPr wrap="square" lIns="0" tIns="0" rIns="0" bIns="0" rtlCol="0" anchor="t"/>
          <a:lstStyle/>
          <a:p>
            <a:pPr indent="0" marL="0">
              <a:buNone/>
            </a:pPr>
            <a:r>
              <a:rPr lang="en-US" sz="1400" dirty="0">
                <a:solidFill>
                  <a:schemeClr val="accent6"/>
                </a:solidFill>
              </a:rPr>
              <a:t>Six ADRs, eight runbooks, architecture, Azure mapping and an interview guide</a:t>
            </a:r>
            <a:endParaRPr lang="en-US" sz="1400" dirty="0"/>
          </a:p>
        </p:txBody>
      </p:sp>
      <p:sp>
        <p:nvSpPr>
          <p:cNvPr id="32" name="Coverage note"/>
          <p:cNvSpPr txBox="1"/>
          <p:nvPr/>
        </p:nvSpPr>
        <p:spPr>
          <a:xfrm>
            <a:off x="3931920" y="6035040"/>
            <a:ext cx="7680960" cy="274320"/>
          </a:xfrm>
          <a:prstGeom prst="rect">
            <a:avLst/>
          </a:prstGeom>
          <a:noFill/>
          <a:ln/>
        </p:spPr>
        <p:txBody>
          <a:bodyPr wrap="square" lIns="0" tIns="0" rIns="0" bIns="0" rtlCol="0" anchor="t"/>
          <a:lstStyle/>
          <a:p>
            <a:pPr indent="0" marL="0">
              <a:buNone/>
            </a:pPr>
            <a:r>
              <a:rPr lang="en-US" sz="1100" dirty="0">
                <a:solidFill>
                  <a:schemeClr val="accent6"/>
                </a:solidFill>
              </a:rPr>
              <a:t>Coverage measured with a stdlib tracer here; CI enforces 90% with coverage.py.</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0C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Same ideas, production services</a:t>
            </a:r>
            <a:endParaRPr lang="en-US" sz="3600" dirty="0"/>
          </a:p>
        </p:txBody>
      </p:sp>
      <p:graphicFrame>
        <p:nvGraphicFramePr>
          <p:cNvPr id="12" name="Azure mapping"/>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834640"/>
                <a:gridCol w="2926080"/>
                <a:gridCol w="2926080"/>
                <a:gridCol w="2377440"/>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LakehouseGuard</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accent5"/>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Azure Databricks</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accent5"/>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Microsoft Fabric</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accent5"/>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Azure services</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accent5"/>
                    </a:solidFill>
                  </a:tcPr>
                </a:tc>
              </a:tr>
              <a:tr h="45720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Bronze / Silver / Gold</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Delta + Unity Catalog</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Lakehouse in OneLake</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ADLS Gen2</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Contract gate</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Lakeflow expectations</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Notebook, Dataflow Gen2</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ADF data flow assert</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Quarantine</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Delta quarantine table</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Lakehouse table</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ADLS container</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Observability</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Lakehouse Monitoring</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Real-Time Intelligence</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Azure Monitor</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Alerts</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Workflows alerts</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Fabric Activator</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Logic Apps, Teams</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Lineage</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Unity Catalog lineage</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Purview</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Microsoft Purview</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Orchestration</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Workflows</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Fabric pipelines</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ADF, Airflow</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Dashboard</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Databricks SQL</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Power BI</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Power BI</a:t>
                      </a:r>
                      <a:endParaRPr lang="en-US" sz="1400" dirty="0">
                        <a:latin typeface="Calibri" charset="0"/>
                        <a:ea typeface="Calibri" charset="0"/>
                        <a:cs typeface="Calibri" charset="0"/>
                      </a:endParaRPr>
                    </a:p>
                  </a:txBody>
                  <a:tcPr marL="109728" marR="109728" marT="27432" marB="27432" anchor="ctr">
                    <a:lnL w="12700" cap="flat" cmpd="sng" algn="ctr">
                      <a:solidFill>
                        <a:srgbClr val="25324A"/>
                      </a:solidFill>
                      <a:prstDash val="solid"/>
                      <a:round/>
                      <a:headEnd type="none" w="med" len="med"/>
                      <a:tailEnd type="none" w="med" len="med"/>
                    </a:lnL>
                    <a:lnR w="12700" cap="flat" cmpd="sng" algn="ctr">
                      <a:solidFill>
                        <a:srgbClr val="25324A"/>
                      </a:solidFill>
                      <a:prstDash val="solid"/>
                      <a:round/>
                      <a:headEnd type="none" w="med" len="med"/>
                      <a:tailEnd type="none" w="med" len="med"/>
                    </a:lnR>
                    <a:lnT w="12700" cap="flat" cmpd="sng" algn="ctr">
                      <a:solidFill>
                        <a:srgbClr val="25324A"/>
                      </a:solidFill>
                      <a:prstDash val="solid"/>
                      <a:round/>
                      <a:headEnd type="none" w="med" len="med"/>
                      <a:tailEnd type="none" w="med" len="med"/>
                    </a:lnT>
                    <a:lnB w="12700" cap="flat" cmpd="sng" algn="ctr">
                      <a:solidFill>
                        <a:srgbClr val="25324A"/>
                      </a:solidFill>
                      <a:prstDash val="solid"/>
                      <a:round/>
                      <a:headEnd type="none" w="med" len="med"/>
                      <a:tailEnd type="none" w="med" len="med"/>
                    </a:lnB>
                    <a:solidFill>
                      <a:schemeClr val="tx2"/>
                    </a:solidFill>
                  </a:tcPr>
                </a:tc>
              </a:tr>
            </a:tbl>
          </a:graphicData>
        </a:graphic>
      </p:graphicFrame>
      <p:sp>
        <p:nvSpPr>
          <p:cNvPr id="4" name="Spark note"/>
          <p:cNvSpPr txBox="1"/>
          <p:nvPr/>
        </p:nvSpPr>
        <p:spPr>
          <a:xfrm>
            <a:off x="548640" y="594360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examples/spark_engine.py expresses the contract gate as PySpark + Delta (idempotent per-batch write).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0C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What it is not, and what comes next</a:t>
            </a:r>
            <a:endParaRPr lang="en-US" sz="3600" dirty="0"/>
          </a:p>
        </p:txBody>
      </p:sp>
      <p:sp>
        <p:nvSpPr>
          <p:cNvPr id="3" name="Limits card"/>
          <p:cNvSpPr/>
          <p:nvPr/>
        </p:nvSpPr>
        <p:spPr>
          <a:xfrm>
            <a:off x="548640" y="1463040"/>
            <a:ext cx="5440680" cy="4206240"/>
          </a:xfrm>
          <a:prstGeom prst="roundRect">
            <a:avLst>
              <a:gd name="adj" fmla="val 2609"/>
            </a:avLst>
          </a:prstGeom>
          <a:solidFill>
            <a:schemeClr val="tx2"/>
          </a:solidFill>
          <a:ln w="12700">
            <a:solidFill>
              <a:schemeClr val="accent4"/>
            </a:solidFill>
            <a:prstDash val="solid"/>
          </a:ln>
        </p:spPr>
      </p:sp>
      <p:sp>
        <p:nvSpPr>
          <p:cNvPr id="4" name="Icon limits circle"/>
          <p:cNvSpPr/>
          <p:nvPr/>
        </p:nvSpPr>
        <p:spPr>
          <a:xfrm>
            <a:off x="822960" y="1737360"/>
            <a:ext cx="640080" cy="640080"/>
          </a:xfrm>
          <a:prstGeom prst="ellipse">
            <a:avLst/>
          </a:prstGeom>
          <a:solidFill>
            <a:srgbClr val="F5B942"/>
          </a:solidFill>
          <a:ln w="12700">
            <a:solidFill>
              <a:srgbClr val="F5B942"/>
            </a:solidFill>
            <a:prstDash val="solid"/>
          </a:ln>
        </p:spPr>
      </p:sp>
      <p:pic>
        <p:nvPicPr>
          <p:cNvPr id="5" name="Icon limits" descr="Icon limits">    </p:cNvPr>
          <p:cNvPicPr>
            <a:picLocks noChangeAspect="1"/>
          </p:cNvPicPr>
          <p:nvPr/>
        </p:nvPicPr>
        <p:blipFill>
          <a:blip r:embed="rId1"/>
          <a:stretch>
            <a:fillRect/>
          </a:stretch>
        </p:blipFill>
        <p:spPr>
          <a:xfrm>
            <a:off x="989381" y="1903781"/>
            <a:ext cx="307238" cy="307238"/>
          </a:xfrm>
          <a:prstGeom prst="rect">
            <a:avLst/>
          </a:prstGeom>
        </p:spPr>
      </p:pic>
      <p:sp>
        <p:nvSpPr>
          <p:cNvPr id="6" name="Limits title"/>
          <p:cNvSpPr txBox="1"/>
          <p:nvPr/>
        </p:nvSpPr>
        <p:spPr>
          <a:xfrm>
            <a:off x="1645920" y="1874520"/>
            <a:ext cx="4114800" cy="365760"/>
          </a:xfrm>
          <a:prstGeom prst="rect">
            <a:avLst/>
          </a:prstGeom>
          <a:noFill/>
          <a:ln/>
        </p:spPr>
        <p:txBody>
          <a:bodyPr wrap="square" lIns="0" tIns="0" rIns="0" bIns="0" rtlCol="0" anchor="t"/>
          <a:lstStyle/>
          <a:p>
            <a:pPr indent="0" marL="0">
              <a:buNone/>
            </a:pPr>
            <a:r>
              <a:rPr lang="en-US" sz="2200" b="1" dirty="0">
                <a:solidFill>
                  <a:schemeClr val="bg1"/>
                </a:solidFill>
              </a:rPr>
              <a:t>Honest limits</a:t>
            </a:r>
            <a:endParaRPr lang="en-US" sz="2200" dirty="0"/>
          </a:p>
        </p:txBody>
      </p:sp>
      <p:sp>
        <p:nvSpPr>
          <p:cNvPr id="7" name="Limits list"/>
          <p:cNvSpPr txBox="1"/>
          <p:nvPr/>
        </p:nvSpPr>
        <p:spPr>
          <a:xfrm>
            <a:off x="822960" y="2743200"/>
            <a:ext cx="4937760" cy="28346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2"/>
                </a:solidFill>
              </a:rPr>
              <a:t>Pandas core is single-process; Spark is a reference example</a:t>
            </a:r>
            <a:endParaRPr lang="en-US" sz="1800" dirty="0"/>
          </a:p>
          <a:p>
            <a:pPr marL="342900" indent="-342900">
              <a:spcAft>
                <a:spcPts val="1200"/>
              </a:spcAft>
              <a:buSzPct val="100000"/>
              <a:buChar char="•"/>
            </a:pPr>
            <a:r>
              <a:rPr lang="en-US" sz="1800" dirty="0">
                <a:solidFill>
                  <a:schemeClr val="bg2"/>
                </a:solidFill>
              </a:rPr>
              <a:t>A global max lets some outliers through (73% row-level recall)</a:t>
            </a:r>
            <a:endParaRPr lang="en-US" sz="1800" dirty="0"/>
          </a:p>
          <a:p>
            <a:pPr marL="342900" indent="-342900">
              <a:spcAft>
                <a:spcPts val="1200"/>
              </a:spcAft>
              <a:buSzPct val="100000"/>
              <a:buChar char="•"/>
            </a:pPr>
            <a:r>
              <a:rPr lang="en-US" sz="1800" dirty="0">
                <a:solidFill>
                  <a:schemeClr val="bg2"/>
                </a:solidFill>
              </a:rPr>
              <a:t>The agent is a playbook plus retrieval, not a learner</a:t>
            </a:r>
            <a:endParaRPr lang="en-US" sz="1800" dirty="0"/>
          </a:p>
          <a:p>
            <a:pPr marL="342900" indent="-342900">
              <a:spcAft>
                <a:spcPts val="1200"/>
              </a:spcAft>
              <a:buSzPct val="100000"/>
              <a:buChar char="•"/>
            </a:pPr>
            <a:r>
              <a:rPr lang="en-US" sz="1800" dirty="0">
                <a:solidFill>
                  <a:schemeClr val="bg2"/>
                </a:solidFill>
              </a:rPr>
              <a:t>Confidence is a normalised weight, not a probability</a:t>
            </a:r>
            <a:endParaRPr lang="en-US" sz="1800" dirty="0"/>
          </a:p>
        </p:txBody>
      </p:sp>
      <p:sp>
        <p:nvSpPr>
          <p:cNvPr id="8" name="Roadmap card"/>
          <p:cNvSpPr/>
          <p:nvPr/>
        </p:nvSpPr>
        <p:spPr>
          <a:xfrm>
            <a:off x="6172200" y="1463040"/>
            <a:ext cx="5440680" cy="4206240"/>
          </a:xfrm>
          <a:prstGeom prst="roundRect">
            <a:avLst>
              <a:gd name="adj" fmla="val 2609"/>
            </a:avLst>
          </a:prstGeom>
          <a:solidFill>
            <a:schemeClr val="tx2"/>
          </a:solidFill>
          <a:ln w="12700">
            <a:solidFill>
              <a:schemeClr val="accent2"/>
            </a:solidFill>
            <a:prstDash val="solid"/>
          </a:ln>
        </p:spPr>
      </p:sp>
      <p:sp>
        <p:nvSpPr>
          <p:cNvPr id="9" name="Icon roadmap circle"/>
          <p:cNvSpPr/>
          <p:nvPr/>
        </p:nvSpPr>
        <p:spPr>
          <a:xfrm>
            <a:off x="6446520" y="1737360"/>
            <a:ext cx="640080" cy="640080"/>
          </a:xfrm>
          <a:prstGeom prst="ellipse">
            <a:avLst/>
          </a:prstGeom>
          <a:solidFill>
            <a:srgbClr val="2DD4A8"/>
          </a:solidFill>
          <a:ln w="12700">
            <a:solidFill>
              <a:srgbClr val="2DD4A8"/>
            </a:solidFill>
            <a:prstDash val="solid"/>
          </a:ln>
        </p:spPr>
      </p:sp>
      <p:pic>
        <p:nvPicPr>
          <p:cNvPr id="10" name="Icon roadmap" descr="Icon roadmap">    </p:cNvPr>
          <p:cNvPicPr>
            <a:picLocks noChangeAspect="1"/>
          </p:cNvPicPr>
          <p:nvPr/>
        </p:nvPicPr>
        <p:blipFill>
          <a:blip r:embed="rId2"/>
          <a:stretch>
            <a:fillRect/>
          </a:stretch>
        </p:blipFill>
        <p:spPr>
          <a:xfrm>
            <a:off x="6612941" y="1903781"/>
            <a:ext cx="307238" cy="307238"/>
          </a:xfrm>
          <a:prstGeom prst="rect">
            <a:avLst/>
          </a:prstGeom>
        </p:spPr>
      </p:pic>
      <p:sp>
        <p:nvSpPr>
          <p:cNvPr id="11" name="Roadmap title"/>
          <p:cNvSpPr txBox="1"/>
          <p:nvPr/>
        </p:nvSpPr>
        <p:spPr>
          <a:xfrm>
            <a:off x="7269480" y="1874520"/>
            <a:ext cx="4114800" cy="365760"/>
          </a:xfrm>
          <a:prstGeom prst="rect">
            <a:avLst/>
          </a:prstGeom>
          <a:noFill/>
          <a:ln/>
        </p:spPr>
        <p:txBody>
          <a:bodyPr wrap="square" lIns="0" tIns="0" rIns="0" bIns="0" rtlCol="0" anchor="t"/>
          <a:lstStyle/>
          <a:p>
            <a:pPr indent="0" marL="0">
              <a:buNone/>
            </a:pPr>
            <a:r>
              <a:rPr lang="en-US" sz="2200" b="1" dirty="0">
                <a:solidFill>
                  <a:schemeClr val="bg1"/>
                </a:solidFill>
              </a:rPr>
              <a:t>Roadmap</a:t>
            </a:r>
            <a:endParaRPr lang="en-US" sz="2200" dirty="0"/>
          </a:p>
        </p:txBody>
      </p:sp>
      <p:sp>
        <p:nvSpPr>
          <p:cNvPr id="12" name="Roadmap list"/>
          <p:cNvSpPr txBox="1"/>
          <p:nvPr/>
        </p:nvSpPr>
        <p:spPr>
          <a:xfrm>
            <a:off x="6446520" y="2743200"/>
            <a:ext cx="4937760" cy="28346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2"/>
                </a:solidFill>
              </a:rPr>
              <a:t>Per-segment range rules and robust outlier detection</a:t>
            </a:r>
            <a:endParaRPr lang="en-US" sz="1800" dirty="0"/>
          </a:p>
          <a:p>
            <a:pPr marL="342900" indent="-342900">
              <a:spcAft>
                <a:spcPts val="1200"/>
              </a:spcAft>
              <a:buSzPct val="100000"/>
              <a:buChar char="•"/>
            </a:pPr>
            <a:r>
              <a:rPr lang="en-US" sz="1800" dirty="0">
                <a:solidFill>
                  <a:schemeClr val="bg2"/>
                </a:solidFill>
              </a:rPr>
              <a:t>Embedding retrieval for runbooks</a:t>
            </a:r>
            <a:endParaRPr lang="en-US" sz="1800" dirty="0"/>
          </a:p>
          <a:p>
            <a:pPr marL="342900" indent="-342900">
              <a:spcAft>
                <a:spcPts val="1200"/>
              </a:spcAft>
              <a:buSzPct val="100000"/>
              <a:buChar char="•"/>
            </a:pPr>
            <a:r>
              <a:rPr lang="en-US" sz="1800" dirty="0">
                <a:solidFill>
                  <a:schemeClr val="bg2"/>
                </a:solidFill>
              </a:rPr>
              <a:t>Incremental Gold and dbt-core marts</a:t>
            </a:r>
            <a:endParaRPr lang="en-US" sz="1800" dirty="0"/>
          </a:p>
          <a:p>
            <a:pPr marL="342900" indent="-342900">
              <a:spcAft>
                <a:spcPts val="1200"/>
              </a:spcAft>
              <a:buSzPct val="100000"/>
              <a:buChar char="•"/>
            </a:pPr>
            <a:r>
              <a:rPr lang="en-US" sz="1800" dirty="0">
                <a:solidFill>
                  <a:schemeClr val="bg2"/>
                </a:solidFill>
              </a:rPr>
              <a:t>OpenLineage to Marquez, auto-created tickets</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0C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6766560" cy="1737360"/>
          </a:xfrm>
          <a:prstGeom prst="rect">
            <a:avLst/>
          </a:prstGeom>
          <a:noFill/>
          <a:ln/>
        </p:spPr>
        <p:txBody>
          <a:bodyPr wrap="square" lIns="0" tIns="0" rIns="0" bIns="0" rtlCol="0" anchor="t"/>
          <a:lstStyle/>
          <a:p>
            <a:pPr algn="l" indent="0" marL="0">
              <a:buNone/>
            </a:pPr>
            <a:r>
              <a:rPr lang="en-US" sz="5200" b="1" dirty="0">
                <a:solidFill>
                  <a:schemeClr val="bg1"/>
                </a:solidFill>
              </a:rPr>
              <a:t>Let's make data trustworthy</a:t>
            </a:r>
            <a:endParaRPr lang="en-US" sz="5200" dirty="0"/>
          </a:p>
        </p:txBody>
      </p:sp>
      <p:sp>
        <p:nvSpPr>
          <p:cNvPr id="3" name="Text 0"/>
          <p:cNvSpPr/>
          <p:nvPr>
            <p:ph idx="101" type="body" hasCustomPrompt="1"/>
          </p:nvPr>
        </p:nvSpPr>
        <p:spPr>
          <a:xfrm>
            <a:off x="731520" y="4069080"/>
            <a:ext cx="6400800" cy="914400"/>
          </a:xfrm>
          <a:prstGeom prst="rect">
            <a:avLst/>
          </a:prstGeom>
          <a:noFill/>
          <a:ln/>
        </p:spPr>
        <p:txBody>
          <a:bodyPr wrap="square" lIns="0" tIns="0" rIns="0" bIns="0" rtlCol="0" anchor="t"/>
          <a:lstStyle/>
          <a:p>
            <a:pPr algn="l" indent="0" marL="0">
              <a:buNone/>
            </a:pPr>
            <a:r>
              <a:rPr lang="en-US" sz="2000" dirty="0">
                <a:solidFill>
                  <a:schemeClr val="accent6"/>
                </a:solidFill>
              </a:rPr>
              <a:t>Clone it, run lakehouseguard demo, and break it yourself in 60 seconds.</a:t>
            </a:r>
            <a:endParaRPr lang="en-US" sz="2000" dirty="0"/>
          </a:p>
        </p:txBody>
      </p:sp>
      <p:sp>
        <p:nvSpPr>
          <p:cNvPr id="4" name="Contact card 1"/>
          <p:cNvSpPr/>
          <p:nvPr/>
        </p:nvSpPr>
        <p:spPr>
          <a:xfrm>
            <a:off x="7680960" y="1371600"/>
            <a:ext cx="3931920" cy="1097280"/>
          </a:xfrm>
          <a:prstGeom prst="roundRect">
            <a:avLst>
              <a:gd name="adj" fmla="val 10000"/>
            </a:avLst>
          </a:prstGeom>
          <a:solidFill>
            <a:schemeClr val="tx2"/>
          </a:solidFill>
          <a:ln w="12700">
            <a:solidFill>
              <a:schemeClr val="accent5"/>
            </a:solidFill>
            <a:prstDash val="solid"/>
          </a:ln>
        </p:spPr>
      </p:sp>
      <p:sp>
        <p:nvSpPr>
          <p:cNvPr id="5" name="Icon contact 1 circle"/>
          <p:cNvSpPr/>
          <p:nvPr/>
        </p:nvSpPr>
        <p:spPr>
          <a:xfrm>
            <a:off x="7909560" y="1600200"/>
            <a:ext cx="640080" cy="640080"/>
          </a:xfrm>
          <a:prstGeom prst="ellipse">
            <a:avLst/>
          </a:prstGeom>
          <a:solidFill>
            <a:srgbClr val="5B8CFF"/>
          </a:solidFill>
          <a:ln w="12700">
            <a:solidFill>
              <a:srgbClr val="5B8CFF"/>
            </a:solidFill>
            <a:prstDash val="solid"/>
          </a:ln>
        </p:spPr>
      </p:sp>
      <p:pic>
        <p:nvPicPr>
          <p:cNvPr id="6" name="Icon contact 1" descr="Icon contact 1">    </p:cNvPr>
          <p:cNvPicPr>
            <a:picLocks noChangeAspect="1"/>
          </p:cNvPicPr>
          <p:nvPr/>
        </p:nvPicPr>
        <p:blipFill>
          <a:blip r:embed="rId1"/>
          <a:stretch>
            <a:fillRect/>
          </a:stretch>
        </p:blipFill>
        <p:spPr>
          <a:xfrm>
            <a:off x="8075981" y="1766621"/>
            <a:ext cx="307238" cy="307238"/>
          </a:xfrm>
          <a:prstGeom prst="rect">
            <a:avLst/>
          </a:prstGeom>
        </p:spPr>
      </p:pic>
      <p:sp>
        <p:nvSpPr>
          <p:cNvPr id="7" name="Contact 1"/>
          <p:cNvSpPr txBox="1"/>
          <p:nvPr/>
        </p:nvSpPr>
        <p:spPr>
          <a:xfrm>
            <a:off x="8732520" y="1371600"/>
            <a:ext cx="2788920" cy="1097280"/>
          </a:xfrm>
          <a:prstGeom prst="rect">
            <a:avLst/>
          </a:prstGeom>
          <a:noFill/>
          <a:ln/>
        </p:spPr>
        <p:txBody>
          <a:bodyPr wrap="square" lIns="0" tIns="0" rIns="0" bIns="0" rtlCol="0" anchor="ctr"/>
          <a:lstStyle/>
          <a:p>
            <a:pPr indent="0" marL="0">
              <a:buNone/>
            </a:pPr>
            <a:r>
              <a:rPr lang="en-US" sz="1400" b="1" dirty="0">
                <a:solidFill>
                  <a:schemeClr val="bg1"/>
                </a:solidFill>
              </a:rPr>
              <a:t>github.com/AnyalstRushi/lakehouseguard</a:t>
            </a:r>
            <a:endParaRPr lang="en-US" sz="1400" dirty="0"/>
          </a:p>
        </p:txBody>
      </p:sp>
      <p:sp>
        <p:nvSpPr>
          <p:cNvPr id="8" name="Contact card 2"/>
          <p:cNvSpPr/>
          <p:nvPr/>
        </p:nvSpPr>
        <p:spPr>
          <a:xfrm>
            <a:off x="7680960" y="2743200"/>
            <a:ext cx="3931920" cy="1097280"/>
          </a:xfrm>
          <a:prstGeom prst="roundRect">
            <a:avLst>
              <a:gd name="adj" fmla="val 10000"/>
            </a:avLst>
          </a:prstGeom>
          <a:solidFill>
            <a:schemeClr val="tx2"/>
          </a:solidFill>
          <a:ln w="12700">
            <a:solidFill>
              <a:schemeClr val="accent5"/>
            </a:solidFill>
            <a:prstDash val="solid"/>
          </a:ln>
        </p:spPr>
      </p:sp>
      <p:sp>
        <p:nvSpPr>
          <p:cNvPr id="9" name="Icon contact 2 circle"/>
          <p:cNvSpPr/>
          <p:nvPr/>
        </p:nvSpPr>
        <p:spPr>
          <a:xfrm>
            <a:off x="7909560" y="2971800"/>
            <a:ext cx="640080" cy="640080"/>
          </a:xfrm>
          <a:prstGeom prst="ellipse">
            <a:avLst/>
          </a:prstGeom>
          <a:solidFill>
            <a:srgbClr val="2DD4A8"/>
          </a:solidFill>
          <a:ln w="12700">
            <a:solidFill>
              <a:srgbClr val="2DD4A8"/>
            </a:solidFill>
            <a:prstDash val="solid"/>
          </a:ln>
        </p:spPr>
      </p:sp>
      <p:pic>
        <p:nvPicPr>
          <p:cNvPr id="10" name="Icon contact 2" descr="Icon contact 2">    </p:cNvPr>
          <p:cNvPicPr>
            <a:picLocks noChangeAspect="1"/>
          </p:cNvPicPr>
          <p:nvPr/>
        </p:nvPicPr>
        <p:blipFill>
          <a:blip r:embed="rId2"/>
          <a:stretch>
            <a:fillRect/>
          </a:stretch>
        </p:blipFill>
        <p:spPr>
          <a:xfrm>
            <a:off x="8075981" y="3138221"/>
            <a:ext cx="307238" cy="307238"/>
          </a:xfrm>
          <a:prstGeom prst="rect">
            <a:avLst/>
          </a:prstGeom>
        </p:spPr>
      </p:pic>
      <p:sp>
        <p:nvSpPr>
          <p:cNvPr id="11" name="Contact 2"/>
          <p:cNvSpPr txBox="1"/>
          <p:nvPr/>
        </p:nvSpPr>
        <p:spPr>
          <a:xfrm>
            <a:off x="8732520" y="2743200"/>
            <a:ext cx="2788920" cy="1097280"/>
          </a:xfrm>
          <a:prstGeom prst="rect">
            <a:avLst/>
          </a:prstGeom>
          <a:noFill/>
          <a:ln/>
        </p:spPr>
        <p:txBody>
          <a:bodyPr wrap="square" lIns="0" tIns="0" rIns="0" bIns="0" rtlCol="0" anchor="ctr"/>
          <a:lstStyle/>
          <a:p>
            <a:pPr indent="0" marL="0">
              <a:buNone/>
            </a:pPr>
            <a:r>
              <a:rPr lang="en-US" sz="1400" b="1" dirty="0">
                <a:solidFill>
                  <a:schemeClr val="bg1"/>
                </a:solidFill>
              </a:rPr>
              <a:t>rushiwavhal161718@gmail.com</a:t>
            </a:r>
            <a:endParaRPr lang="en-US" sz="1400" dirty="0"/>
          </a:p>
        </p:txBody>
      </p:sp>
      <p:sp>
        <p:nvSpPr>
          <p:cNvPr id="12" name="Contact card 3"/>
          <p:cNvSpPr/>
          <p:nvPr/>
        </p:nvSpPr>
        <p:spPr>
          <a:xfrm>
            <a:off x="7680960" y="4114800"/>
            <a:ext cx="3931920" cy="1097280"/>
          </a:xfrm>
          <a:prstGeom prst="roundRect">
            <a:avLst>
              <a:gd name="adj" fmla="val 10000"/>
            </a:avLst>
          </a:prstGeom>
          <a:solidFill>
            <a:schemeClr val="tx2"/>
          </a:solidFill>
          <a:ln w="12700">
            <a:solidFill>
              <a:schemeClr val="accent5"/>
            </a:solidFill>
            <a:prstDash val="solid"/>
          </a:ln>
        </p:spPr>
      </p:sp>
      <p:sp>
        <p:nvSpPr>
          <p:cNvPr id="13" name="Icon contact 3 circle"/>
          <p:cNvSpPr/>
          <p:nvPr/>
        </p:nvSpPr>
        <p:spPr>
          <a:xfrm>
            <a:off x="7909560" y="4343400"/>
            <a:ext cx="640080" cy="640080"/>
          </a:xfrm>
          <a:prstGeom prst="ellipse">
            <a:avLst/>
          </a:prstGeom>
          <a:solidFill>
            <a:srgbClr val="F5B942"/>
          </a:solidFill>
          <a:ln w="12700">
            <a:solidFill>
              <a:srgbClr val="F5B942"/>
            </a:solidFill>
            <a:prstDash val="solid"/>
          </a:ln>
        </p:spPr>
      </p:sp>
      <p:pic>
        <p:nvPicPr>
          <p:cNvPr id="14" name="Icon contact 3" descr="Icon contact 3">    </p:cNvPr>
          <p:cNvPicPr>
            <a:picLocks noChangeAspect="1"/>
          </p:cNvPicPr>
          <p:nvPr/>
        </p:nvPicPr>
        <p:blipFill>
          <a:blip r:embed="rId3"/>
          <a:stretch>
            <a:fillRect/>
          </a:stretch>
        </p:blipFill>
        <p:spPr>
          <a:xfrm>
            <a:off x="8075981" y="4509821"/>
            <a:ext cx="307238" cy="307238"/>
          </a:xfrm>
          <a:prstGeom prst="rect">
            <a:avLst/>
          </a:prstGeom>
        </p:spPr>
      </p:pic>
      <p:sp>
        <p:nvSpPr>
          <p:cNvPr id="15" name="Contact 3"/>
          <p:cNvSpPr txBox="1"/>
          <p:nvPr/>
        </p:nvSpPr>
        <p:spPr>
          <a:xfrm>
            <a:off x="8732520" y="4114800"/>
            <a:ext cx="2788920" cy="1097280"/>
          </a:xfrm>
          <a:prstGeom prst="rect">
            <a:avLst/>
          </a:prstGeom>
          <a:noFill/>
          <a:ln/>
        </p:spPr>
        <p:txBody>
          <a:bodyPr wrap="square" lIns="0" tIns="0" rIns="0" bIns="0" rtlCol="0" anchor="ctr"/>
          <a:lstStyle/>
          <a:p>
            <a:pPr indent="0" marL="0">
              <a:buNone/>
            </a:pPr>
            <a:r>
              <a:rPr lang="en-US" sz="1400" b="1" dirty="0">
                <a:solidFill>
                  <a:schemeClr val="bg1"/>
                </a:solidFill>
              </a:rPr>
              <a:t>Pune  ·  Open to relocate  ·  Available in 15 days</a:t>
            </a:r>
            <a:endParaRPr lang="en-US" sz="1400" dirty="0"/>
          </a:p>
        </p:txBody>
      </p:sp>
      <p:sp>
        <p:nvSpPr>
          <p:cNvPr id="16" name="Author"/>
          <p:cNvSpPr txBox="1"/>
          <p:nvPr/>
        </p:nvSpPr>
        <p:spPr>
          <a:xfrm>
            <a:off x="731520" y="5486400"/>
            <a:ext cx="5943600" cy="365760"/>
          </a:xfrm>
          <a:prstGeom prst="rect">
            <a:avLst/>
          </a:prstGeom>
          <a:noFill/>
          <a:ln/>
        </p:spPr>
        <p:txBody>
          <a:bodyPr wrap="square" lIns="0" tIns="0" rIns="0" bIns="0" rtlCol="0" anchor="t"/>
          <a:lstStyle/>
          <a:p>
            <a:pPr indent="0" marL="0">
              <a:buNone/>
            </a:pPr>
            <a:r>
              <a:rPr lang="en-US" sz="2000" b="1" dirty="0">
                <a:solidFill>
                  <a:schemeClr val="bg1"/>
                </a:solidFill>
              </a:rPr>
              <a:t>Rushikesh Wavhal</a:t>
            </a:r>
            <a:endParaRPr lang="en-US" sz="2000" dirty="0"/>
          </a:p>
        </p:txBody>
      </p:sp>
    </p:spTree>
  </p:cSld>
  <p:clrMapOvr>
    <a:masterClrMapping/>
  </p:clrMapOvr>
</p:sld>
</file>

<file path=ppt/theme/theme1.xml><?xml version="1.0" encoding="utf-8"?>
<a:theme xmlns:a="http://schemas.openxmlformats.org/drawingml/2006/main" name="LakehouseGuard Midnight">
  <a:themeElements>
    <a:clrScheme name="LakehouseGuard Midnight">
      <a:dk1>
        <a:srgbClr val="0B1020"/>
      </a:dk1>
      <a:lt1>
        <a:srgbClr val="FFFFFF"/>
      </a:lt1>
      <a:dk2>
        <a:srgbClr val="121A2F"/>
      </a:dk2>
      <a:lt2>
        <a:srgbClr val="E8EEFC"/>
      </a:lt2>
      <a:accent1>
        <a:srgbClr val="5B8CFF"/>
      </a:accent1>
      <a:accent2>
        <a:srgbClr val="2DD4A8"/>
      </a:accent2>
      <a:accent3>
        <a:srgbClr val="FF5C7A"/>
      </a:accent3>
      <a:accent4>
        <a:srgbClr val="F5B942"/>
      </a:accent4>
      <a:accent5>
        <a:srgbClr val="25324A"/>
      </a:accent5>
      <a:accent6>
        <a:srgbClr val="8FA0C2"/>
      </a:accent6>
      <a:hlink>
        <a:srgbClr val="5B8CFF"/>
      </a:hlink>
      <a:folHlink>
        <a:srgbClr val="8FA0C2"/>
      </a:folHlink>
    </a:clrScheme>
    <a:fontScheme name="LakehouseGuard Midn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LakehouseGuard: contract-driven, self-healing lakehouse</dc:title>
  <dc:subject>PptxGenJS Presentation</dc:subject>
  <dc:creator>Rushikesh Wavhal</dc:creator>
  <cp:lastModifiedBy>Rushikesh Wavhal</cp:lastModifiedBy>
  <cp:revision>1</cp:revision>
  <dcterms:created xsi:type="dcterms:W3CDTF">2026-10-10T17:37:37Z</dcterms:created>
  <dcterms:modified xsi:type="dcterms:W3CDTF">2026-10-10T17:37:37Z</dcterms:modified>
</cp:coreProperties>
</file>